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4" r:id="rId3"/>
    <p:sldId id="258" r:id="rId4"/>
    <p:sldId id="260" r:id="rId5"/>
    <p:sldId id="259" r:id="rId6"/>
    <p:sldId id="261" r:id="rId7"/>
    <p:sldId id="263"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48"/>
    <p:restoredTop sz="94626"/>
  </p:normalViewPr>
  <p:slideViewPr>
    <p:cSldViewPr snapToGrid="0">
      <p:cViewPr varScale="1">
        <p:scale>
          <a:sx n="116" d="100"/>
          <a:sy n="116" d="100"/>
        </p:scale>
        <p:origin x="632"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DE021-3F99-D298-E071-46D3634092C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856D861-2044-70F3-0E37-FB555BD9336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E63D26E-87BA-9B90-D035-F129015C03CE}"/>
              </a:ext>
            </a:extLst>
          </p:cNvPr>
          <p:cNvSpPr>
            <a:spLocks noGrp="1"/>
          </p:cNvSpPr>
          <p:nvPr>
            <p:ph type="dt" sz="half" idx="10"/>
          </p:nvPr>
        </p:nvSpPr>
        <p:spPr/>
        <p:txBody>
          <a:bodyPr/>
          <a:lstStyle/>
          <a:p>
            <a:fld id="{37E861E5-1C56-DB4C-940A-FA0ACB1C7014}" type="datetimeFigureOut">
              <a:rPr lang="en-US" smtClean="0"/>
              <a:t>1/22/26</a:t>
            </a:fld>
            <a:endParaRPr lang="en-US"/>
          </a:p>
        </p:txBody>
      </p:sp>
      <p:sp>
        <p:nvSpPr>
          <p:cNvPr id="5" name="Footer Placeholder 4">
            <a:extLst>
              <a:ext uri="{FF2B5EF4-FFF2-40B4-BE49-F238E27FC236}">
                <a16:creationId xmlns:a16="http://schemas.microsoft.com/office/drawing/2014/main" id="{AEA2A936-3629-FDBC-9357-CC973F79E3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8D5A28-B080-4E1C-956F-7113FC4B87A9}"/>
              </a:ext>
            </a:extLst>
          </p:cNvPr>
          <p:cNvSpPr>
            <a:spLocks noGrp="1"/>
          </p:cNvSpPr>
          <p:nvPr>
            <p:ph type="sldNum" sz="quarter" idx="12"/>
          </p:nvPr>
        </p:nvSpPr>
        <p:spPr/>
        <p:txBody>
          <a:bodyPr/>
          <a:lstStyle/>
          <a:p>
            <a:fld id="{DB72A56C-C070-DC40-AB31-70E9EAAF6AE7}" type="slidenum">
              <a:rPr lang="en-US" smtClean="0"/>
              <a:t>‹#›</a:t>
            </a:fld>
            <a:endParaRPr lang="en-US"/>
          </a:p>
        </p:txBody>
      </p:sp>
    </p:spTree>
    <p:extLst>
      <p:ext uri="{BB962C8B-B14F-4D97-AF65-F5344CB8AC3E}">
        <p14:creationId xmlns:p14="http://schemas.microsoft.com/office/powerpoint/2010/main" val="24053609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BC869C-52E5-8C9B-4078-D1209D8F7E1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1799647-E17F-F4DF-C098-21F0E494C28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A93D13-5CAC-CF8B-65C4-B95ADEDFF11F}"/>
              </a:ext>
            </a:extLst>
          </p:cNvPr>
          <p:cNvSpPr>
            <a:spLocks noGrp="1"/>
          </p:cNvSpPr>
          <p:nvPr>
            <p:ph type="dt" sz="half" idx="10"/>
          </p:nvPr>
        </p:nvSpPr>
        <p:spPr/>
        <p:txBody>
          <a:bodyPr/>
          <a:lstStyle/>
          <a:p>
            <a:fld id="{37E861E5-1C56-DB4C-940A-FA0ACB1C7014}" type="datetimeFigureOut">
              <a:rPr lang="en-US" smtClean="0"/>
              <a:t>1/22/26</a:t>
            </a:fld>
            <a:endParaRPr lang="en-US"/>
          </a:p>
        </p:txBody>
      </p:sp>
      <p:sp>
        <p:nvSpPr>
          <p:cNvPr id="5" name="Footer Placeholder 4">
            <a:extLst>
              <a:ext uri="{FF2B5EF4-FFF2-40B4-BE49-F238E27FC236}">
                <a16:creationId xmlns:a16="http://schemas.microsoft.com/office/drawing/2014/main" id="{9637C01A-D4D7-5A4B-48C7-D951929B37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56166E-3953-2A4E-50C5-17DF0E65EB57}"/>
              </a:ext>
            </a:extLst>
          </p:cNvPr>
          <p:cNvSpPr>
            <a:spLocks noGrp="1"/>
          </p:cNvSpPr>
          <p:nvPr>
            <p:ph type="sldNum" sz="quarter" idx="12"/>
          </p:nvPr>
        </p:nvSpPr>
        <p:spPr/>
        <p:txBody>
          <a:bodyPr/>
          <a:lstStyle/>
          <a:p>
            <a:fld id="{DB72A56C-C070-DC40-AB31-70E9EAAF6AE7}" type="slidenum">
              <a:rPr lang="en-US" smtClean="0"/>
              <a:t>‹#›</a:t>
            </a:fld>
            <a:endParaRPr lang="en-US"/>
          </a:p>
        </p:txBody>
      </p:sp>
    </p:spTree>
    <p:extLst>
      <p:ext uri="{BB962C8B-B14F-4D97-AF65-F5344CB8AC3E}">
        <p14:creationId xmlns:p14="http://schemas.microsoft.com/office/powerpoint/2010/main" val="6071266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D34C9-8068-FE3F-9135-19D9BB32DE3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008D389-B1AB-E048-79E5-E765BD81FF9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3FD8595-FE1F-B9BB-E593-76624E7BB91F}"/>
              </a:ext>
            </a:extLst>
          </p:cNvPr>
          <p:cNvSpPr>
            <a:spLocks noGrp="1"/>
          </p:cNvSpPr>
          <p:nvPr>
            <p:ph type="dt" sz="half" idx="10"/>
          </p:nvPr>
        </p:nvSpPr>
        <p:spPr/>
        <p:txBody>
          <a:bodyPr/>
          <a:lstStyle/>
          <a:p>
            <a:fld id="{37E861E5-1C56-DB4C-940A-FA0ACB1C7014}" type="datetimeFigureOut">
              <a:rPr lang="en-US" smtClean="0"/>
              <a:t>1/22/26</a:t>
            </a:fld>
            <a:endParaRPr lang="en-US"/>
          </a:p>
        </p:txBody>
      </p:sp>
      <p:sp>
        <p:nvSpPr>
          <p:cNvPr id="5" name="Footer Placeholder 4">
            <a:extLst>
              <a:ext uri="{FF2B5EF4-FFF2-40B4-BE49-F238E27FC236}">
                <a16:creationId xmlns:a16="http://schemas.microsoft.com/office/drawing/2014/main" id="{35ED06AC-E6A3-432C-CC60-C1DCE4ECBD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62DBFE-B9AC-EA89-E10E-801402B723A7}"/>
              </a:ext>
            </a:extLst>
          </p:cNvPr>
          <p:cNvSpPr>
            <a:spLocks noGrp="1"/>
          </p:cNvSpPr>
          <p:nvPr>
            <p:ph type="sldNum" sz="quarter" idx="12"/>
          </p:nvPr>
        </p:nvSpPr>
        <p:spPr/>
        <p:txBody>
          <a:bodyPr/>
          <a:lstStyle/>
          <a:p>
            <a:fld id="{DB72A56C-C070-DC40-AB31-70E9EAAF6AE7}" type="slidenum">
              <a:rPr lang="en-US" smtClean="0"/>
              <a:t>‹#›</a:t>
            </a:fld>
            <a:endParaRPr lang="en-US"/>
          </a:p>
        </p:txBody>
      </p:sp>
    </p:spTree>
    <p:extLst>
      <p:ext uri="{BB962C8B-B14F-4D97-AF65-F5344CB8AC3E}">
        <p14:creationId xmlns:p14="http://schemas.microsoft.com/office/powerpoint/2010/main" val="3368329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8C148-25AB-3265-1239-07BF2857D75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9F09C1-F836-4293-03B6-0867A4938F0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F2FD264-67AC-1586-9051-784EE92F2C1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211C28B-8317-BBC6-BAB9-B094BA25620E}"/>
              </a:ext>
            </a:extLst>
          </p:cNvPr>
          <p:cNvSpPr>
            <a:spLocks noGrp="1"/>
          </p:cNvSpPr>
          <p:nvPr>
            <p:ph type="dt" sz="half" idx="10"/>
          </p:nvPr>
        </p:nvSpPr>
        <p:spPr/>
        <p:txBody>
          <a:bodyPr/>
          <a:lstStyle/>
          <a:p>
            <a:fld id="{37E861E5-1C56-DB4C-940A-FA0ACB1C7014}" type="datetimeFigureOut">
              <a:rPr lang="en-US" smtClean="0"/>
              <a:t>1/22/26</a:t>
            </a:fld>
            <a:endParaRPr lang="en-US"/>
          </a:p>
        </p:txBody>
      </p:sp>
      <p:sp>
        <p:nvSpPr>
          <p:cNvPr id="6" name="Footer Placeholder 5">
            <a:extLst>
              <a:ext uri="{FF2B5EF4-FFF2-40B4-BE49-F238E27FC236}">
                <a16:creationId xmlns:a16="http://schemas.microsoft.com/office/drawing/2014/main" id="{5633E11C-060F-401A-0F84-01A45748432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F0B4C43-9F54-B875-EC2F-AEC86BC816B1}"/>
              </a:ext>
            </a:extLst>
          </p:cNvPr>
          <p:cNvSpPr>
            <a:spLocks noGrp="1"/>
          </p:cNvSpPr>
          <p:nvPr>
            <p:ph type="sldNum" sz="quarter" idx="12"/>
          </p:nvPr>
        </p:nvSpPr>
        <p:spPr/>
        <p:txBody>
          <a:bodyPr/>
          <a:lstStyle/>
          <a:p>
            <a:fld id="{DB72A56C-C070-DC40-AB31-70E9EAAF6AE7}" type="slidenum">
              <a:rPr lang="en-US" smtClean="0"/>
              <a:t>‹#›</a:t>
            </a:fld>
            <a:endParaRPr lang="en-US"/>
          </a:p>
        </p:txBody>
      </p:sp>
    </p:spTree>
    <p:extLst>
      <p:ext uri="{BB962C8B-B14F-4D97-AF65-F5344CB8AC3E}">
        <p14:creationId xmlns:p14="http://schemas.microsoft.com/office/powerpoint/2010/main" val="21588654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47154-5737-2692-7DF7-95358AEE42E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D8004E0-7C34-C48D-4E2D-803B1F273B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37EEECC-4A9E-A7C4-B543-BB242B6FBAC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DDC75EB-4B01-75BD-40C3-8282115D87A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F819D4D-5502-4E49-C9E7-7FDC7D5C8A4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8EAC062-E979-7DD9-5D71-D28F06D37424}"/>
              </a:ext>
            </a:extLst>
          </p:cNvPr>
          <p:cNvSpPr>
            <a:spLocks noGrp="1"/>
          </p:cNvSpPr>
          <p:nvPr>
            <p:ph type="dt" sz="half" idx="10"/>
          </p:nvPr>
        </p:nvSpPr>
        <p:spPr/>
        <p:txBody>
          <a:bodyPr/>
          <a:lstStyle/>
          <a:p>
            <a:fld id="{37E861E5-1C56-DB4C-940A-FA0ACB1C7014}" type="datetimeFigureOut">
              <a:rPr lang="en-US" smtClean="0"/>
              <a:t>1/22/26</a:t>
            </a:fld>
            <a:endParaRPr lang="en-US"/>
          </a:p>
        </p:txBody>
      </p:sp>
      <p:sp>
        <p:nvSpPr>
          <p:cNvPr id="8" name="Footer Placeholder 7">
            <a:extLst>
              <a:ext uri="{FF2B5EF4-FFF2-40B4-BE49-F238E27FC236}">
                <a16:creationId xmlns:a16="http://schemas.microsoft.com/office/drawing/2014/main" id="{CA49FA9E-ACDE-1108-4672-D90B0289A61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6E0DFDD-D9F9-D8C2-A4D7-A94882312FEC}"/>
              </a:ext>
            </a:extLst>
          </p:cNvPr>
          <p:cNvSpPr>
            <a:spLocks noGrp="1"/>
          </p:cNvSpPr>
          <p:nvPr>
            <p:ph type="sldNum" sz="quarter" idx="12"/>
          </p:nvPr>
        </p:nvSpPr>
        <p:spPr/>
        <p:txBody>
          <a:bodyPr/>
          <a:lstStyle/>
          <a:p>
            <a:fld id="{DB72A56C-C070-DC40-AB31-70E9EAAF6AE7}" type="slidenum">
              <a:rPr lang="en-US" smtClean="0"/>
              <a:t>‹#›</a:t>
            </a:fld>
            <a:endParaRPr lang="en-US"/>
          </a:p>
        </p:txBody>
      </p:sp>
    </p:spTree>
    <p:extLst>
      <p:ext uri="{BB962C8B-B14F-4D97-AF65-F5344CB8AC3E}">
        <p14:creationId xmlns:p14="http://schemas.microsoft.com/office/powerpoint/2010/main" val="12789563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81CD9-EE37-3A16-0D73-22668E6DD70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9CDC020-CBC5-9C59-C4A9-6569959A5C54}"/>
              </a:ext>
            </a:extLst>
          </p:cNvPr>
          <p:cNvSpPr>
            <a:spLocks noGrp="1"/>
          </p:cNvSpPr>
          <p:nvPr>
            <p:ph type="dt" sz="half" idx="10"/>
          </p:nvPr>
        </p:nvSpPr>
        <p:spPr/>
        <p:txBody>
          <a:bodyPr/>
          <a:lstStyle/>
          <a:p>
            <a:fld id="{37E861E5-1C56-DB4C-940A-FA0ACB1C7014}" type="datetimeFigureOut">
              <a:rPr lang="en-US" smtClean="0"/>
              <a:t>1/22/26</a:t>
            </a:fld>
            <a:endParaRPr lang="en-US"/>
          </a:p>
        </p:txBody>
      </p:sp>
      <p:sp>
        <p:nvSpPr>
          <p:cNvPr id="4" name="Footer Placeholder 3">
            <a:extLst>
              <a:ext uri="{FF2B5EF4-FFF2-40B4-BE49-F238E27FC236}">
                <a16:creationId xmlns:a16="http://schemas.microsoft.com/office/drawing/2014/main" id="{DA753C4F-9E63-1845-7374-E2383A379F0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BC7D4F5-FD44-E224-DC78-6586AA9F96B8}"/>
              </a:ext>
            </a:extLst>
          </p:cNvPr>
          <p:cNvSpPr>
            <a:spLocks noGrp="1"/>
          </p:cNvSpPr>
          <p:nvPr>
            <p:ph type="sldNum" sz="quarter" idx="12"/>
          </p:nvPr>
        </p:nvSpPr>
        <p:spPr/>
        <p:txBody>
          <a:bodyPr/>
          <a:lstStyle/>
          <a:p>
            <a:fld id="{DB72A56C-C070-DC40-AB31-70E9EAAF6AE7}" type="slidenum">
              <a:rPr lang="en-US" smtClean="0"/>
              <a:t>‹#›</a:t>
            </a:fld>
            <a:endParaRPr lang="en-US"/>
          </a:p>
        </p:txBody>
      </p:sp>
    </p:spTree>
    <p:extLst>
      <p:ext uri="{BB962C8B-B14F-4D97-AF65-F5344CB8AC3E}">
        <p14:creationId xmlns:p14="http://schemas.microsoft.com/office/powerpoint/2010/main" val="5026493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6E3C6FE-4263-59C3-4671-AB7D53104306}"/>
              </a:ext>
            </a:extLst>
          </p:cNvPr>
          <p:cNvSpPr>
            <a:spLocks noGrp="1"/>
          </p:cNvSpPr>
          <p:nvPr>
            <p:ph type="dt" sz="half" idx="10"/>
          </p:nvPr>
        </p:nvSpPr>
        <p:spPr/>
        <p:txBody>
          <a:bodyPr/>
          <a:lstStyle/>
          <a:p>
            <a:fld id="{37E861E5-1C56-DB4C-940A-FA0ACB1C7014}" type="datetimeFigureOut">
              <a:rPr lang="en-US" smtClean="0"/>
              <a:t>1/22/26</a:t>
            </a:fld>
            <a:endParaRPr lang="en-US"/>
          </a:p>
        </p:txBody>
      </p:sp>
      <p:sp>
        <p:nvSpPr>
          <p:cNvPr id="3" name="Footer Placeholder 2">
            <a:extLst>
              <a:ext uri="{FF2B5EF4-FFF2-40B4-BE49-F238E27FC236}">
                <a16:creationId xmlns:a16="http://schemas.microsoft.com/office/drawing/2014/main" id="{22F76782-EF52-CF01-4C63-4CC9D07C9C0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CBE37D1-D6BB-1984-0829-BADBA92194B3}"/>
              </a:ext>
            </a:extLst>
          </p:cNvPr>
          <p:cNvSpPr>
            <a:spLocks noGrp="1"/>
          </p:cNvSpPr>
          <p:nvPr>
            <p:ph type="sldNum" sz="quarter" idx="12"/>
          </p:nvPr>
        </p:nvSpPr>
        <p:spPr/>
        <p:txBody>
          <a:bodyPr/>
          <a:lstStyle/>
          <a:p>
            <a:fld id="{DB72A56C-C070-DC40-AB31-70E9EAAF6AE7}" type="slidenum">
              <a:rPr lang="en-US" smtClean="0"/>
              <a:t>‹#›</a:t>
            </a:fld>
            <a:endParaRPr lang="en-US"/>
          </a:p>
        </p:txBody>
      </p:sp>
    </p:spTree>
    <p:extLst>
      <p:ext uri="{BB962C8B-B14F-4D97-AF65-F5344CB8AC3E}">
        <p14:creationId xmlns:p14="http://schemas.microsoft.com/office/powerpoint/2010/main" val="13687254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9CEF8-7B1A-14FA-565D-4D04037CFD8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87EC9E6-F80F-7720-2F57-9B1EED43113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A199877-0ECB-9C0C-02A0-0D1BD9B63E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3DDD75-9CE8-84E2-6E55-02AD8C565D82}"/>
              </a:ext>
            </a:extLst>
          </p:cNvPr>
          <p:cNvSpPr>
            <a:spLocks noGrp="1"/>
          </p:cNvSpPr>
          <p:nvPr>
            <p:ph type="dt" sz="half" idx="10"/>
          </p:nvPr>
        </p:nvSpPr>
        <p:spPr/>
        <p:txBody>
          <a:bodyPr/>
          <a:lstStyle/>
          <a:p>
            <a:fld id="{37E861E5-1C56-DB4C-940A-FA0ACB1C7014}" type="datetimeFigureOut">
              <a:rPr lang="en-US" smtClean="0"/>
              <a:t>1/22/26</a:t>
            </a:fld>
            <a:endParaRPr lang="en-US"/>
          </a:p>
        </p:txBody>
      </p:sp>
      <p:sp>
        <p:nvSpPr>
          <p:cNvPr id="6" name="Footer Placeholder 5">
            <a:extLst>
              <a:ext uri="{FF2B5EF4-FFF2-40B4-BE49-F238E27FC236}">
                <a16:creationId xmlns:a16="http://schemas.microsoft.com/office/drawing/2014/main" id="{687976B5-4037-07E2-BBB2-4197CEF390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48349FA-D1DF-9FF9-355E-A8BE228FEF7F}"/>
              </a:ext>
            </a:extLst>
          </p:cNvPr>
          <p:cNvSpPr>
            <a:spLocks noGrp="1"/>
          </p:cNvSpPr>
          <p:nvPr>
            <p:ph type="sldNum" sz="quarter" idx="12"/>
          </p:nvPr>
        </p:nvSpPr>
        <p:spPr/>
        <p:txBody>
          <a:bodyPr/>
          <a:lstStyle/>
          <a:p>
            <a:fld id="{DB72A56C-C070-DC40-AB31-70E9EAAF6AE7}" type="slidenum">
              <a:rPr lang="en-US" smtClean="0"/>
              <a:t>‹#›</a:t>
            </a:fld>
            <a:endParaRPr lang="en-US"/>
          </a:p>
        </p:txBody>
      </p:sp>
    </p:spTree>
    <p:extLst>
      <p:ext uri="{BB962C8B-B14F-4D97-AF65-F5344CB8AC3E}">
        <p14:creationId xmlns:p14="http://schemas.microsoft.com/office/powerpoint/2010/main" val="19136807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08EAC-9F27-CFB9-825F-91B7AA9B95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A4AF08E-5986-E15B-4C3D-CCAE91D7181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0054C39-C59B-BA67-C555-77DAABE51E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C48036-23DB-9298-0AFE-D74819D13B98}"/>
              </a:ext>
            </a:extLst>
          </p:cNvPr>
          <p:cNvSpPr>
            <a:spLocks noGrp="1"/>
          </p:cNvSpPr>
          <p:nvPr>
            <p:ph type="dt" sz="half" idx="10"/>
          </p:nvPr>
        </p:nvSpPr>
        <p:spPr/>
        <p:txBody>
          <a:bodyPr/>
          <a:lstStyle/>
          <a:p>
            <a:fld id="{37E861E5-1C56-DB4C-940A-FA0ACB1C7014}" type="datetimeFigureOut">
              <a:rPr lang="en-US" smtClean="0"/>
              <a:t>1/22/26</a:t>
            </a:fld>
            <a:endParaRPr lang="en-US"/>
          </a:p>
        </p:txBody>
      </p:sp>
      <p:sp>
        <p:nvSpPr>
          <p:cNvPr id="6" name="Footer Placeholder 5">
            <a:extLst>
              <a:ext uri="{FF2B5EF4-FFF2-40B4-BE49-F238E27FC236}">
                <a16:creationId xmlns:a16="http://schemas.microsoft.com/office/drawing/2014/main" id="{F0AF6152-9A20-81C5-519D-1F9181ADA21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DEFFB8-E2EE-F6AE-ECA5-0907A4F42AB6}"/>
              </a:ext>
            </a:extLst>
          </p:cNvPr>
          <p:cNvSpPr>
            <a:spLocks noGrp="1"/>
          </p:cNvSpPr>
          <p:nvPr>
            <p:ph type="sldNum" sz="quarter" idx="12"/>
          </p:nvPr>
        </p:nvSpPr>
        <p:spPr/>
        <p:txBody>
          <a:bodyPr/>
          <a:lstStyle/>
          <a:p>
            <a:fld id="{DB72A56C-C070-DC40-AB31-70E9EAAF6AE7}" type="slidenum">
              <a:rPr lang="en-US" smtClean="0"/>
              <a:t>‹#›</a:t>
            </a:fld>
            <a:endParaRPr lang="en-US"/>
          </a:p>
        </p:txBody>
      </p:sp>
    </p:spTree>
    <p:extLst>
      <p:ext uri="{BB962C8B-B14F-4D97-AF65-F5344CB8AC3E}">
        <p14:creationId xmlns:p14="http://schemas.microsoft.com/office/powerpoint/2010/main" val="41799405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44225-DF6D-8003-69A4-B45110A9FFB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0E8A89C-EFA2-0D9A-5CDB-D869B8079D2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702C47-EC25-54A3-94E1-EDF92C42397D}"/>
              </a:ext>
            </a:extLst>
          </p:cNvPr>
          <p:cNvSpPr>
            <a:spLocks noGrp="1"/>
          </p:cNvSpPr>
          <p:nvPr>
            <p:ph type="dt" sz="half" idx="10"/>
          </p:nvPr>
        </p:nvSpPr>
        <p:spPr/>
        <p:txBody>
          <a:bodyPr/>
          <a:lstStyle/>
          <a:p>
            <a:fld id="{37E861E5-1C56-DB4C-940A-FA0ACB1C7014}" type="datetimeFigureOut">
              <a:rPr lang="en-US" smtClean="0"/>
              <a:t>1/22/26</a:t>
            </a:fld>
            <a:endParaRPr lang="en-US"/>
          </a:p>
        </p:txBody>
      </p:sp>
      <p:sp>
        <p:nvSpPr>
          <p:cNvPr id="5" name="Footer Placeholder 4">
            <a:extLst>
              <a:ext uri="{FF2B5EF4-FFF2-40B4-BE49-F238E27FC236}">
                <a16:creationId xmlns:a16="http://schemas.microsoft.com/office/drawing/2014/main" id="{B9216D43-990D-9A86-4424-E8D1868BEF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A35420-7DD6-0439-4E87-D2B2894CA4B8}"/>
              </a:ext>
            </a:extLst>
          </p:cNvPr>
          <p:cNvSpPr>
            <a:spLocks noGrp="1"/>
          </p:cNvSpPr>
          <p:nvPr>
            <p:ph type="sldNum" sz="quarter" idx="12"/>
          </p:nvPr>
        </p:nvSpPr>
        <p:spPr/>
        <p:txBody>
          <a:bodyPr/>
          <a:lstStyle/>
          <a:p>
            <a:fld id="{DB72A56C-C070-DC40-AB31-70E9EAAF6AE7}" type="slidenum">
              <a:rPr lang="en-US" smtClean="0"/>
              <a:t>‹#›</a:t>
            </a:fld>
            <a:endParaRPr lang="en-US"/>
          </a:p>
        </p:txBody>
      </p:sp>
    </p:spTree>
    <p:extLst>
      <p:ext uri="{BB962C8B-B14F-4D97-AF65-F5344CB8AC3E}">
        <p14:creationId xmlns:p14="http://schemas.microsoft.com/office/powerpoint/2010/main" val="12836409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CEA25B8-908A-0364-433B-0D1384A6836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276D06E-FC27-FC8C-88B4-932342782D9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8B3B501-3D36-6364-D4B9-4B85DFCCEF9B}"/>
              </a:ext>
            </a:extLst>
          </p:cNvPr>
          <p:cNvSpPr>
            <a:spLocks noGrp="1"/>
          </p:cNvSpPr>
          <p:nvPr>
            <p:ph type="dt" sz="half" idx="10"/>
          </p:nvPr>
        </p:nvSpPr>
        <p:spPr/>
        <p:txBody>
          <a:bodyPr/>
          <a:lstStyle/>
          <a:p>
            <a:fld id="{37E861E5-1C56-DB4C-940A-FA0ACB1C7014}" type="datetimeFigureOut">
              <a:rPr lang="en-US" smtClean="0"/>
              <a:t>1/22/26</a:t>
            </a:fld>
            <a:endParaRPr lang="en-US"/>
          </a:p>
        </p:txBody>
      </p:sp>
      <p:sp>
        <p:nvSpPr>
          <p:cNvPr id="5" name="Footer Placeholder 4">
            <a:extLst>
              <a:ext uri="{FF2B5EF4-FFF2-40B4-BE49-F238E27FC236}">
                <a16:creationId xmlns:a16="http://schemas.microsoft.com/office/drawing/2014/main" id="{3B3EB590-B2FC-3509-9BFF-0DA993F221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AB3987-F65A-B56B-0576-805EE3AFE933}"/>
              </a:ext>
            </a:extLst>
          </p:cNvPr>
          <p:cNvSpPr>
            <a:spLocks noGrp="1"/>
          </p:cNvSpPr>
          <p:nvPr>
            <p:ph type="sldNum" sz="quarter" idx="12"/>
          </p:nvPr>
        </p:nvSpPr>
        <p:spPr/>
        <p:txBody>
          <a:bodyPr/>
          <a:lstStyle/>
          <a:p>
            <a:fld id="{DB72A56C-C070-DC40-AB31-70E9EAAF6AE7}" type="slidenum">
              <a:rPr lang="en-US" smtClean="0"/>
              <a:t>‹#›</a:t>
            </a:fld>
            <a:endParaRPr lang="en-US"/>
          </a:p>
        </p:txBody>
      </p:sp>
    </p:spTree>
    <p:extLst>
      <p:ext uri="{BB962C8B-B14F-4D97-AF65-F5344CB8AC3E}">
        <p14:creationId xmlns:p14="http://schemas.microsoft.com/office/powerpoint/2010/main" val="2567070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4FD7164-8221-3C24-7734-1FDE5C811DE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9C73099-084D-F23E-48AA-899840FF68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020157-A604-8788-5A55-B01B6E71A1A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7E861E5-1C56-DB4C-940A-FA0ACB1C7014}" type="datetimeFigureOut">
              <a:rPr lang="en-US" smtClean="0"/>
              <a:t>1/22/26</a:t>
            </a:fld>
            <a:endParaRPr lang="en-US"/>
          </a:p>
        </p:txBody>
      </p:sp>
      <p:sp>
        <p:nvSpPr>
          <p:cNvPr id="5" name="Footer Placeholder 4">
            <a:extLst>
              <a:ext uri="{FF2B5EF4-FFF2-40B4-BE49-F238E27FC236}">
                <a16:creationId xmlns:a16="http://schemas.microsoft.com/office/drawing/2014/main" id="{F50B030E-D71D-7A6C-EBE2-13ACDACB428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A789458-A505-6F9A-51C0-46A5732EF4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B72A56C-C070-DC40-AB31-70E9EAAF6AE7}" type="slidenum">
              <a:rPr lang="en-US" smtClean="0"/>
              <a:t>‹#›</a:t>
            </a:fld>
            <a:endParaRPr lang="en-US"/>
          </a:p>
        </p:txBody>
      </p:sp>
    </p:spTree>
    <p:extLst>
      <p:ext uri="{BB962C8B-B14F-4D97-AF65-F5344CB8AC3E}">
        <p14:creationId xmlns:p14="http://schemas.microsoft.com/office/powerpoint/2010/main" val="10315684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github.com/naumenko-sa/hivdrm" TargetMode="Externa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06337-9C73-2990-5595-A3EE56C7FAE6}"/>
              </a:ext>
            </a:extLst>
          </p:cNvPr>
          <p:cNvSpPr>
            <a:spLocks noGrp="1"/>
          </p:cNvSpPr>
          <p:nvPr>
            <p:ph type="ctrTitle"/>
          </p:nvPr>
        </p:nvSpPr>
        <p:spPr/>
        <p:txBody>
          <a:bodyPr>
            <a:normAutofit fontScale="90000"/>
          </a:bodyPr>
          <a:lstStyle/>
          <a:p>
            <a:r>
              <a:rPr lang="en-US" dirty="0" err="1"/>
              <a:t>hivdrm</a:t>
            </a:r>
            <a:r>
              <a:rPr lang="en-US" dirty="0"/>
              <a:t> modified script Validation Report using Synthetic Dataset</a:t>
            </a:r>
          </a:p>
        </p:txBody>
      </p:sp>
    </p:spTree>
    <p:extLst>
      <p:ext uri="{BB962C8B-B14F-4D97-AF65-F5344CB8AC3E}">
        <p14:creationId xmlns:p14="http://schemas.microsoft.com/office/powerpoint/2010/main" val="3641015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A83E108-B317-A99E-F55B-4EDC87565BA2}"/>
              </a:ext>
            </a:extLst>
          </p:cNvPr>
          <p:cNvSpPr txBox="1"/>
          <p:nvPr/>
        </p:nvSpPr>
        <p:spPr>
          <a:xfrm>
            <a:off x="3048918" y="3247088"/>
            <a:ext cx="6097836" cy="646331"/>
          </a:xfrm>
          <a:prstGeom prst="rect">
            <a:avLst/>
          </a:prstGeom>
          <a:noFill/>
        </p:spPr>
        <p:txBody>
          <a:bodyPr wrap="square">
            <a:spAutoFit/>
          </a:bodyPr>
          <a:lstStyle/>
          <a:p>
            <a:r>
              <a:rPr lang="en-US" dirty="0"/>
              <a:t>previous  script: </a:t>
            </a:r>
            <a:r>
              <a:rPr lang="en-US" b="0" i="0" u="sng" dirty="0">
                <a:solidFill>
                  <a:srgbClr val="0969DA"/>
                </a:solidFill>
                <a:effectLst/>
                <a:highlight>
                  <a:srgbClr val="FFFFFF"/>
                </a:highlight>
                <a:latin typeface="-apple-system"/>
                <a:hlinkClick r:id="rId2"/>
              </a:rPr>
              <a:t>https://github.com/naumenko-sa/hivdrm</a:t>
            </a:r>
            <a:endParaRPr lang="en-US" dirty="0"/>
          </a:p>
          <a:p>
            <a:r>
              <a:rPr lang="en-US" dirty="0"/>
              <a:t>modified script : </a:t>
            </a:r>
            <a:r>
              <a:rPr lang="en-US" b="0" i="0" u="sng" dirty="0">
                <a:solidFill>
                  <a:srgbClr val="0969DA"/>
                </a:solidFill>
                <a:effectLst/>
                <a:highlight>
                  <a:srgbClr val="FFFFFF"/>
                </a:highlight>
                <a:latin typeface="-apple-system"/>
                <a:hlinkClick r:id="rId2"/>
              </a:rPr>
              <a:t>https://github.com/rinkideo/hivdrm</a:t>
            </a:r>
            <a:endParaRPr lang="en-US" dirty="0"/>
          </a:p>
        </p:txBody>
      </p:sp>
    </p:spTree>
    <p:extLst>
      <p:ext uri="{BB962C8B-B14F-4D97-AF65-F5344CB8AC3E}">
        <p14:creationId xmlns:p14="http://schemas.microsoft.com/office/powerpoint/2010/main" val="14918636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4BBAC-977D-2167-AD4D-98A723EE7D30}"/>
              </a:ext>
            </a:extLst>
          </p:cNvPr>
          <p:cNvSpPr txBox="1">
            <a:spLocks/>
          </p:cNvSpPr>
          <p:nvPr/>
        </p:nvSpPr>
        <p:spPr>
          <a:xfrm>
            <a:off x="838200" y="365126"/>
            <a:ext cx="10515600" cy="535828"/>
          </a:xfrm>
          <a:prstGeom prst="rect">
            <a:avLst/>
          </a:prstGeom>
        </p:spPr>
        <p:txBody>
          <a:bodyPr>
            <a:normAutofit fontScale="8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Differences between previous and modified script</a:t>
            </a:r>
          </a:p>
        </p:txBody>
      </p:sp>
      <p:graphicFrame>
        <p:nvGraphicFramePr>
          <p:cNvPr id="5" name="Table 4">
            <a:extLst>
              <a:ext uri="{FF2B5EF4-FFF2-40B4-BE49-F238E27FC236}">
                <a16:creationId xmlns:a16="http://schemas.microsoft.com/office/drawing/2014/main" id="{1E32E733-E2BB-2D78-52CC-0CD37FF0FACA}"/>
              </a:ext>
            </a:extLst>
          </p:cNvPr>
          <p:cNvGraphicFramePr>
            <a:graphicFrameLocks noGrp="1"/>
          </p:cNvGraphicFramePr>
          <p:nvPr>
            <p:extLst>
              <p:ext uri="{D42A27DB-BD31-4B8C-83A1-F6EECF244321}">
                <p14:modId xmlns:p14="http://schemas.microsoft.com/office/powerpoint/2010/main" val="746889237"/>
              </p:ext>
            </p:extLst>
          </p:nvPr>
        </p:nvGraphicFramePr>
        <p:xfrm>
          <a:off x="988272" y="1299532"/>
          <a:ext cx="10515600" cy="1752505"/>
        </p:xfrm>
        <a:graphic>
          <a:graphicData uri="http://schemas.openxmlformats.org/drawingml/2006/table">
            <a:tbl>
              <a:tblPr>
                <a:tableStyleId>{00A15C55-8517-42AA-B614-E9B94910E393}</a:tableStyleId>
              </a:tblPr>
              <a:tblGrid>
                <a:gridCol w="3505200">
                  <a:extLst>
                    <a:ext uri="{9D8B030D-6E8A-4147-A177-3AD203B41FA5}">
                      <a16:colId xmlns:a16="http://schemas.microsoft.com/office/drawing/2014/main" val="1484730280"/>
                    </a:ext>
                  </a:extLst>
                </a:gridCol>
                <a:gridCol w="3505200">
                  <a:extLst>
                    <a:ext uri="{9D8B030D-6E8A-4147-A177-3AD203B41FA5}">
                      <a16:colId xmlns:a16="http://schemas.microsoft.com/office/drawing/2014/main" val="4087254974"/>
                    </a:ext>
                  </a:extLst>
                </a:gridCol>
                <a:gridCol w="3505200">
                  <a:extLst>
                    <a:ext uri="{9D8B030D-6E8A-4147-A177-3AD203B41FA5}">
                      <a16:colId xmlns:a16="http://schemas.microsoft.com/office/drawing/2014/main" val="3703139477"/>
                    </a:ext>
                  </a:extLst>
                </a:gridCol>
              </a:tblGrid>
              <a:tr h="340328">
                <a:tc>
                  <a:txBody>
                    <a:bodyPr/>
                    <a:lstStyle/>
                    <a:p>
                      <a:pPr algn="ctr" rtl="0"/>
                      <a:r>
                        <a:rPr lang="en-US" sz="1600" b="1" dirty="0">
                          <a:solidFill>
                            <a:schemeClr val="bg1"/>
                          </a:solidFill>
                          <a:effectLst/>
                        </a:rPr>
                        <a:t>Category</a:t>
                      </a:r>
                      <a:endParaRPr lang="en-US" sz="1600" dirty="0">
                        <a:solidFill>
                          <a:schemeClr val="bg1"/>
                        </a:solidFill>
                        <a:effectLst/>
                        <a:latin typeface="Google Sans Text"/>
                      </a:endParaRPr>
                    </a:p>
                  </a:txBody>
                  <a:tcPr marL="91159" marR="91159" marT="60773" marB="60773" anchor="ctr">
                    <a:solidFill>
                      <a:schemeClr val="accent4">
                        <a:lumMod val="75000"/>
                      </a:schemeClr>
                    </a:solidFill>
                  </a:tcPr>
                </a:tc>
                <a:tc>
                  <a:txBody>
                    <a:bodyPr/>
                    <a:lstStyle/>
                    <a:p>
                      <a:pPr algn="ctr" rtl="0"/>
                      <a:r>
                        <a:rPr lang="en-US" sz="1600" b="1" dirty="0">
                          <a:solidFill>
                            <a:schemeClr val="bg1"/>
                          </a:solidFill>
                          <a:effectLst/>
                        </a:rPr>
                        <a:t>Previous Logic</a:t>
                      </a:r>
                      <a:endParaRPr lang="en-US" sz="1600" dirty="0">
                        <a:solidFill>
                          <a:schemeClr val="bg1"/>
                        </a:solidFill>
                        <a:effectLst/>
                        <a:latin typeface="Google Sans Text"/>
                      </a:endParaRPr>
                    </a:p>
                  </a:txBody>
                  <a:tcPr marL="91159" marR="91159" marT="60773" marB="60773" anchor="ctr">
                    <a:solidFill>
                      <a:schemeClr val="accent4">
                        <a:lumMod val="75000"/>
                      </a:schemeClr>
                    </a:solidFill>
                  </a:tcPr>
                </a:tc>
                <a:tc>
                  <a:txBody>
                    <a:bodyPr/>
                    <a:lstStyle/>
                    <a:p>
                      <a:pPr algn="ctr" rtl="0"/>
                      <a:r>
                        <a:rPr lang="en-US" sz="1600" b="1" dirty="0">
                          <a:solidFill>
                            <a:schemeClr val="bg1"/>
                          </a:solidFill>
                          <a:effectLst/>
                        </a:rPr>
                        <a:t>Modified Logic</a:t>
                      </a:r>
                      <a:endParaRPr lang="en-US" sz="1600" dirty="0">
                        <a:solidFill>
                          <a:schemeClr val="bg1"/>
                        </a:solidFill>
                        <a:effectLst/>
                        <a:latin typeface="Google Sans Text"/>
                      </a:endParaRPr>
                    </a:p>
                  </a:txBody>
                  <a:tcPr marL="91159" marR="91159" marT="60773" marB="60773" anchor="ctr">
                    <a:solidFill>
                      <a:schemeClr val="accent4">
                        <a:lumMod val="75000"/>
                      </a:schemeClr>
                    </a:solidFill>
                  </a:tcPr>
                </a:tc>
                <a:extLst>
                  <a:ext uri="{0D108BD9-81ED-4DB2-BD59-A6C34878D82A}">
                    <a16:rowId xmlns:a16="http://schemas.microsoft.com/office/drawing/2014/main" val="3113499388"/>
                  </a:ext>
                </a:extLst>
              </a:tr>
              <a:tr h="559110">
                <a:tc>
                  <a:txBody>
                    <a:bodyPr/>
                    <a:lstStyle/>
                    <a:p>
                      <a:pPr rtl="0"/>
                      <a:r>
                        <a:rPr lang="en-US" sz="1600" b="1" dirty="0">
                          <a:solidFill>
                            <a:srgbClr val="1F1F1F"/>
                          </a:solidFill>
                          <a:effectLst/>
                        </a:rPr>
                        <a:t>Family size filtering</a:t>
                      </a:r>
                      <a:endParaRPr lang="en-US" sz="1600" dirty="0">
                        <a:solidFill>
                          <a:srgbClr val="1F1F1F"/>
                        </a:solidFill>
                        <a:effectLst/>
                        <a:latin typeface="Google Sans Text"/>
                      </a:endParaRPr>
                    </a:p>
                  </a:txBody>
                  <a:tcPr marL="91159" marR="91159" marT="60773" marB="60773" anchor="ctr"/>
                </a:tc>
                <a:tc>
                  <a:txBody>
                    <a:bodyPr/>
                    <a:lstStyle/>
                    <a:p>
                      <a:pPr rtl="0"/>
                      <a:r>
                        <a:rPr lang="en-US" sz="1600" dirty="0">
                          <a:solidFill>
                            <a:srgbClr val="1F1F1F"/>
                          </a:solidFill>
                          <a:effectLst/>
                        </a:rPr>
                        <a:t>Drops families &lt; 5 and &gt; 20 (biases against VF with large families).</a:t>
                      </a:r>
                      <a:endParaRPr lang="en-US" sz="1600" dirty="0">
                        <a:solidFill>
                          <a:srgbClr val="1F1F1F"/>
                        </a:solidFill>
                        <a:effectLst/>
                        <a:latin typeface="Google Sans Text"/>
                      </a:endParaRPr>
                    </a:p>
                  </a:txBody>
                  <a:tcPr marL="91159" marR="91159" marT="60773" marB="60773" anchor="ctr"/>
                </a:tc>
                <a:tc>
                  <a:txBody>
                    <a:bodyPr/>
                    <a:lstStyle/>
                    <a:p>
                      <a:pPr rtl="0"/>
                      <a:r>
                        <a:rPr lang="en-US" sz="1600" dirty="0">
                          <a:solidFill>
                            <a:srgbClr val="1F1F1F"/>
                          </a:solidFill>
                          <a:effectLst/>
                        </a:rPr>
                        <a:t>Drops families &lt; $</a:t>
                      </a:r>
                      <a:r>
                        <a:rPr lang="en-US" sz="1600" dirty="0" err="1">
                          <a:solidFill>
                            <a:srgbClr val="1F1F1F"/>
                          </a:solidFill>
                          <a:effectLst/>
                        </a:rPr>
                        <a:t>consens_cutoff</a:t>
                      </a:r>
                      <a:r>
                        <a:rPr lang="en-US" sz="1600" dirty="0">
                          <a:solidFill>
                            <a:srgbClr val="1F1F1F"/>
                          </a:solidFill>
                          <a:effectLst/>
                        </a:rPr>
                        <a:t> (default 5). </a:t>
                      </a:r>
                      <a:r>
                        <a:rPr lang="en-US" sz="1600" b="1" dirty="0">
                          <a:solidFill>
                            <a:srgbClr val="1F1F1F"/>
                          </a:solidFill>
                          <a:effectLst/>
                        </a:rPr>
                        <a:t>Keeps all other families.</a:t>
                      </a:r>
                      <a:endParaRPr lang="en-US" sz="1600" dirty="0">
                        <a:solidFill>
                          <a:srgbClr val="1F1F1F"/>
                        </a:solidFill>
                        <a:effectLst/>
                        <a:latin typeface="Google Sans Text"/>
                      </a:endParaRPr>
                    </a:p>
                  </a:txBody>
                  <a:tcPr marL="91159" marR="91159" marT="60773" marB="60773" anchor="ctr"/>
                </a:tc>
                <a:extLst>
                  <a:ext uri="{0D108BD9-81ED-4DB2-BD59-A6C34878D82A}">
                    <a16:rowId xmlns:a16="http://schemas.microsoft.com/office/drawing/2014/main" val="3821479691"/>
                  </a:ext>
                </a:extLst>
              </a:tr>
              <a:tr h="777893">
                <a:tc>
                  <a:txBody>
                    <a:bodyPr/>
                    <a:lstStyle/>
                    <a:p>
                      <a:pPr rtl="0"/>
                      <a:r>
                        <a:rPr lang="en-US" sz="1600" b="1" dirty="0">
                          <a:solidFill>
                            <a:srgbClr val="1F1F1F"/>
                          </a:solidFill>
                          <a:effectLst/>
                        </a:rPr>
                        <a:t>Majority allele handling</a:t>
                      </a:r>
                      <a:endParaRPr lang="en-US" sz="1600" dirty="0">
                        <a:solidFill>
                          <a:srgbClr val="1F1F1F"/>
                        </a:solidFill>
                        <a:effectLst/>
                        <a:latin typeface="Google Sans Text"/>
                      </a:endParaRPr>
                    </a:p>
                  </a:txBody>
                  <a:tcPr marL="91159" marR="91159" marT="60773" marB="60773" anchor="ctr"/>
                </a:tc>
                <a:tc>
                  <a:txBody>
                    <a:bodyPr/>
                    <a:lstStyle/>
                    <a:p>
                      <a:pPr rtl="0"/>
                      <a:r>
                        <a:rPr lang="en-US" sz="1600" dirty="0">
                          <a:solidFill>
                            <a:srgbClr val="1F1F1F"/>
                          </a:solidFill>
                          <a:effectLst/>
                        </a:rPr>
                        <a:t>Only accepts top allele if 100%. Otherwise </a:t>
                      </a:r>
                      <a:r>
                        <a:rPr lang="en-US" sz="1600" b="1" dirty="0">
                          <a:solidFill>
                            <a:srgbClr val="1F1F1F"/>
                          </a:solidFill>
                          <a:effectLst/>
                        </a:rPr>
                        <a:t>forces 2nd allele.</a:t>
                      </a:r>
                      <a:endParaRPr lang="en-US" sz="1600" dirty="0">
                        <a:solidFill>
                          <a:srgbClr val="1F1F1F"/>
                        </a:solidFill>
                        <a:effectLst/>
                        <a:latin typeface="Google Sans Text"/>
                      </a:endParaRPr>
                    </a:p>
                  </a:txBody>
                  <a:tcPr marL="91159" marR="91159" marT="60773" marB="60773" anchor="ctr"/>
                </a:tc>
                <a:tc>
                  <a:txBody>
                    <a:bodyPr/>
                    <a:lstStyle/>
                    <a:p>
                      <a:pPr rtl="0"/>
                      <a:r>
                        <a:rPr lang="en-US" sz="1600" dirty="0">
                          <a:solidFill>
                            <a:srgbClr val="1F1F1F"/>
                          </a:solidFill>
                          <a:effectLst/>
                        </a:rPr>
                        <a:t>Always keeps majority allele following 80% threshold</a:t>
                      </a:r>
                      <a:endParaRPr lang="en-US" sz="1600" dirty="0">
                        <a:solidFill>
                          <a:srgbClr val="1F1F1F"/>
                        </a:solidFill>
                        <a:effectLst/>
                        <a:latin typeface="Google Sans Text"/>
                      </a:endParaRPr>
                    </a:p>
                  </a:txBody>
                  <a:tcPr marL="91159" marR="91159" marT="60773" marB="60773" anchor="ctr"/>
                </a:tc>
                <a:extLst>
                  <a:ext uri="{0D108BD9-81ED-4DB2-BD59-A6C34878D82A}">
                    <a16:rowId xmlns:a16="http://schemas.microsoft.com/office/drawing/2014/main" val="1650106207"/>
                  </a:ext>
                </a:extLst>
              </a:tr>
            </a:tbl>
          </a:graphicData>
        </a:graphic>
      </p:graphicFrame>
    </p:spTree>
    <p:extLst>
      <p:ext uri="{BB962C8B-B14F-4D97-AF65-F5344CB8AC3E}">
        <p14:creationId xmlns:p14="http://schemas.microsoft.com/office/powerpoint/2010/main" val="2336002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F38617D-D674-6FEE-FF7B-1930B19FA2E7}"/>
              </a:ext>
            </a:extLst>
          </p:cNvPr>
          <p:cNvSpPr txBox="1"/>
          <p:nvPr/>
        </p:nvSpPr>
        <p:spPr>
          <a:xfrm>
            <a:off x="1158247" y="1499137"/>
            <a:ext cx="10226234" cy="3046988"/>
          </a:xfrm>
          <a:prstGeom prst="rect">
            <a:avLst/>
          </a:prstGeom>
          <a:noFill/>
        </p:spPr>
        <p:txBody>
          <a:bodyPr wrap="square">
            <a:spAutoFit/>
          </a:bodyPr>
          <a:lstStyle/>
          <a:p>
            <a:r>
              <a:rPr lang="en-US" sz="2400" dirty="0"/>
              <a:t>We generated  synthetic dataset to simulate a high-throughput sequencing run (Illumina-like) of the HIV-1 Reverse Transcriptase (RT) region (HXB2 positions 54–235). The primary goal is to  verify that the pipeline is recapitulating all the steps of the pipeline and the changes that we made to the pipeline is effectively implemented.</a:t>
            </a: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31763976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EE302E57-3197-108B-9B71-22981CA30EE1}"/>
              </a:ext>
            </a:extLst>
          </p:cNvPr>
          <p:cNvGraphicFramePr>
            <a:graphicFrameLocks noGrp="1"/>
          </p:cNvGraphicFramePr>
          <p:nvPr>
            <p:extLst>
              <p:ext uri="{D42A27DB-BD31-4B8C-83A1-F6EECF244321}">
                <p14:modId xmlns:p14="http://schemas.microsoft.com/office/powerpoint/2010/main" val="1255274228"/>
              </p:ext>
            </p:extLst>
          </p:nvPr>
        </p:nvGraphicFramePr>
        <p:xfrm>
          <a:off x="181985" y="365679"/>
          <a:ext cx="11828029" cy="6373956"/>
        </p:xfrm>
        <a:graphic>
          <a:graphicData uri="http://schemas.openxmlformats.org/drawingml/2006/table">
            <a:tbl>
              <a:tblPr/>
              <a:tblGrid>
                <a:gridCol w="1210050">
                  <a:extLst>
                    <a:ext uri="{9D8B030D-6E8A-4147-A177-3AD203B41FA5}">
                      <a16:colId xmlns:a16="http://schemas.microsoft.com/office/drawing/2014/main" val="3512002842"/>
                    </a:ext>
                  </a:extLst>
                </a:gridCol>
                <a:gridCol w="1940548">
                  <a:extLst>
                    <a:ext uri="{9D8B030D-6E8A-4147-A177-3AD203B41FA5}">
                      <a16:colId xmlns:a16="http://schemas.microsoft.com/office/drawing/2014/main" val="2941375352"/>
                    </a:ext>
                  </a:extLst>
                </a:gridCol>
                <a:gridCol w="987296">
                  <a:extLst>
                    <a:ext uri="{9D8B030D-6E8A-4147-A177-3AD203B41FA5}">
                      <a16:colId xmlns:a16="http://schemas.microsoft.com/office/drawing/2014/main" val="1918760710"/>
                    </a:ext>
                  </a:extLst>
                </a:gridCol>
                <a:gridCol w="3018630">
                  <a:extLst>
                    <a:ext uri="{9D8B030D-6E8A-4147-A177-3AD203B41FA5}">
                      <a16:colId xmlns:a16="http://schemas.microsoft.com/office/drawing/2014/main" val="3145250424"/>
                    </a:ext>
                  </a:extLst>
                </a:gridCol>
                <a:gridCol w="2698905">
                  <a:extLst>
                    <a:ext uri="{9D8B030D-6E8A-4147-A177-3AD203B41FA5}">
                      <a16:colId xmlns:a16="http://schemas.microsoft.com/office/drawing/2014/main" val="2835049938"/>
                    </a:ext>
                  </a:extLst>
                </a:gridCol>
                <a:gridCol w="1972600">
                  <a:extLst>
                    <a:ext uri="{9D8B030D-6E8A-4147-A177-3AD203B41FA5}">
                      <a16:colId xmlns:a16="http://schemas.microsoft.com/office/drawing/2014/main" val="886835313"/>
                    </a:ext>
                  </a:extLst>
                </a:gridCol>
              </a:tblGrid>
              <a:tr h="383451">
                <a:tc>
                  <a:txBody>
                    <a:bodyPr/>
                    <a:lstStyle/>
                    <a:p>
                      <a:pPr rtl="0"/>
                      <a:r>
                        <a:rPr lang="en-US" sz="1400" dirty="0">
                          <a:solidFill>
                            <a:srgbClr val="1F1F1F"/>
                          </a:solidFill>
                          <a:effectLst/>
                          <a:latin typeface="Google Sans Text"/>
                        </a:rPr>
                        <a:t>Sample name</a:t>
                      </a:r>
                    </a:p>
                  </a:txBody>
                  <a:tcPr marL="62519" marR="62519" marT="41679" marB="416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rtl="0"/>
                      <a:r>
                        <a:rPr lang="en-US" sz="1400" b="1" dirty="0">
                          <a:solidFill>
                            <a:srgbClr val="1F1F1F"/>
                          </a:solidFill>
                          <a:effectLst/>
                          <a:latin typeface="Google Sans Text"/>
                        </a:rPr>
                        <a:t>UMI Sample / Pattern</a:t>
                      </a:r>
                      <a:endParaRPr lang="en-US" sz="1400" dirty="0">
                        <a:solidFill>
                          <a:srgbClr val="1F1F1F"/>
                        </a:solidFill>
                        <a:effectLst/>
                        <a:latin typeface="Google Sans Text"/>
                      </a:endParaRPr>
                    </a:p>
                  </a:txBody>
                  <a:tcPr marL="62519" marR="62519" marT="41679" marB="416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rtl="0"/>
                      <a:r>
                        <a:rPr lang="en-US" sz="1400" b="1" dirty="0">
                          <a:solidFill>
                            <a:srgbClr val="1F1F1F"/>
                          </a:solidFill>
                          <a:effectLst/>
                          <a:latin typeface="Google Sans Text"/>
                        </a:rPr>
                        <a:t>Family Size</a:t>
                      </a:r>
                      <a:endParaRPr lang="en-US" sz="1400" dirty="0">
                        <a:solidFill>
                          <a:srgbClr val="1F1F1F"/>
                        </a:solidFill>
                        <a:effectLst/>
                        <a:latin typeface="Google Sans Text"/>
                      </a:endParaRPr>
                    </a:p>
                  </a:txBody>
                  <a:tcPr marL="62519" marR="62519" marT="41679" marB="416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rtl="0"/>
                      <a:r>
                        <a:rPr lang="en-US" sz="1400" b="1" dirty="0">
                          <a:solidFill>
                            <a:srgbClr val="1F1F1F"/>
                          </a:solidFill>
                          <a:effectLst/>
                          <a:latin typeface="Google Sans Text"/>
                        </a:rPr>
                        <a:t>Purpose / Test Type</a:t>
                      </a:r>
                      <a:endParaRPr lang="en-US" sz="1400" dirty="0">
                        <a:solidFill>
                          <a:srgbClr val="1F1F1F"/>
                        </a:solidFill>
                        <a:effectLst/>
                        <a:latin typeface="Google Sans Text"/>
                      </a:endParaRPr>
                    </a:p>
                  </a:txBody>
                  <a:tcPr marL="62519" marR="62519" marT="41679" marB="416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rtl="0"/>
                      <a:r>
                        <a:rPr lang="en-US" sz="1400" b="1" dirty="0">
                          <a:solidFill>
                            <a:srgbClr val="1F1F1F"/>
                          </a:solidFill>
                          <a:effectLst/>
                          <a:latin typeface="Google Sans Text"/>
                        </a:rPr>
                        <a:t>Expected in previous pipeline</a:t>
                      </a:r>
                      <a:endParaRPr lang="en-US" sz="1400" dirty="0">
                        <a:solidFill>
                          <a:srgbClr val="1F1F1F"/>
                        </a:solidFill>
                        <a:effectLst/>
                        <a:latin typeface="Google Sans Text"/>
                      </a:endParaRPr>
                    </a:p>
                  </a:txBody>
                  <a:tcPr marL="62519" marR="62519" marT="41679" marB="416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rtl="0"/>
                      <a:r>
                        <a:rPr lang="en-US" sz="1400" b="1" dirty="0">
                          <a:solidFill>
                            <a:srgbClr val="1F1F1F"/>
                          </a:solidFill>
                          <a:effectLst/>
                          <a:latin typeface="Google Sans Text"/>
                        </a:rPr>
                        <a:t>Expected in Modified pipeline</a:t>
                      </a:r>
                      <a:endParaRPr lang="en-US" sz="1400" dirty="0">
                        <a:solidFill>
                          <a:srgbClr val="1F1F1F"/>
                        </a:solidFill>
                        <a:effectLst/>
                        <a:latin typeface="Google Sans Text"/>
                      </a:endParaRPr>
                    </a:p>
                  </a:txBody>
                  <a:tcPr marL="62519" marR="62519" marT="41679" marB="416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2820202178"/>
                  </a:ext>
                </a:extLst>
              </a:tr>
              <a:tr h="383451">
                <a:tc rowSpan="7">
                  <a:txBody>
                    <a:bodyPr/>
                    <a:lstStyle/>
                    <a:p>
                      <a:pPr rtl="0"/>
                      <a:r>
                        <a:rPr lang="en-US" sz="1400" dirty="0">
                          <a:solidFill>
                            <a:srgbClr val="1F1F1F"/>
                          </a:solidFill>
                          <a:effectLst/>
                          <a:latin typeface="Google Sans Text"/>
                        </a:rPr>
                        <a:t>synth1</a:t>
                      </a:r>
                    </a:p>
                  </a:txBody>
                  <a:tcPr marL="62519" marR="62519" marT="41679" marB="416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r>
                        <a:rPr lang="en-US" sz="1400" b="1" dirty="0">
                          <a:solidFill>
                            <a:srgbClr val="1F1F1F"/>
                          </a:solidFill>
                          <a:effectLst/>
                          <a:latin typeface="Google Sans Text"/>
                        </a:rPr>
                        <a:t>synth1: Scale_10</a:t>
                      </a:r>
                      <a:endParaRPr lang="en-US" sz="1400" dirty="0">
                        <a:solidFill>
                          <a:srgbClr val="1F1F1F"/>
                        </a:solidFill>
                        <a:effectLst/>
                        <a:latin typeface="Google Sans Text"/>
                      </a:endParaRPr>
                    </a:p>
                  </a:txBody>
                  <a:tcPr marL="62519" marR="62519" marT="41679" marB="416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r>
                        <a:rPr lang="en-US" sz="1400" dirty="0">
                          <a:solidFill>
                            <a:srgbClr val="1F1F1F"/>
                          </a:solidFill>
                          <a:effectLst/>
                          <a:latin typeface="Google Sans Text"/>
                        </a:rPr>
                        <a:t>10</a:t>
                      </a:r>
                    </a:p>
                  </a:txBody>
                  <a:tcPr marL="62519" marR="62519" marT="41679" marB="416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r>
                        <a:rPr lang="en-US" sz="1200" dirty="0">
                          <a:solidFill>
                            <a:srgbClr val="1F1F1F"/>
                          </a:solidFill>
                          <a:effectLst/>
                          <a:latin typeface="Google Sans Text"/>
                        </a:rPr>
                        <a:t>Baseline DRM detection (M184V)</a:t>
                      </a:r>
                    </a:p>
                  </a:txBody>
                  <a:tcPr marL="62519" marR="62519" marT="41679" marB="416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r>
                        <a:rPr lang="en-US" sz="1200" dirty="0">
                          <a:solidFill>
                            <a:srgbClr val="1F1F1F"/>
                          </a:solidFill>
                          <a:effectLst/>
                          <a:latin typeface="Google Sans Text"/>
                        </a:rPr>
                        <a:t>Reports M184V</a:t>
                      </a:r>
                    </a:p>
                  </a:txBody>
                  <a:tcPr marL="62519" marR="62519" marT="41679" marB="416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r>
                        <a:rPr lang="en-US" sz="1200" dirty="0">
                          <a:solidFill>
                            <a:srgbClr val="1F1F1F"/>
                          </a:solidFill>
                          <a:effectLst/>
                          <a:latin typeface="Google Sans Text"/>
                        </a:rPr>
                        <a:t>Reports M184V</a:t>
                      </a:r>
                    </a:p>
                  </a:txBody>
                  <a:tcPr marL="62519" marR="62519" marT="41679" marB="416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24506264"/>
                  </a:ext>
                </a:extLst>
              </a:tr>
              <a:tr h="533497">
                <a:tc vMerge="1">
                  <a:txBody>
                    <a:bodyPr/>
                    <a:lstStyle/>
                    <a:p>
                      <a:endParaRPr lang="en-US"/>
                    </a:p>
                  </a:txBody>
                  <a:tcPr/>
                </a:tc>
                <a:tc>
                  <a:txBody>
                    <a:bodyPr/>
                    <a:lstStyle/>
                    <a:p>
                      <a:pPr rtl="0"/>
                      <a:r>
                        <a:rPr lang="en-US" sz="1400" b="1" dirty="0">
                          <a:solidFill>
                            <a:srgbClr val="1F1F1F"/>
                          </a:solidFill>
                          <a:effectLst/>
                          <a:latin typeface="Google Sans Text"/>
                        </a:rPr>
                        <a:t>synth1: Scale_20</a:t>
                      </a:r>
                      <a:endParaRPr lang="en-US" sz="1400" dirty="0">
                        <a:solidFill>
                          <a:srgbClr val="1F1F1F"/>
                        </a:solidFill>
                        <a:effectLst/>
                        <a:latin typeface="Google Sans Text"/>
                      </a:endParaRPr>
                    </a:p>
                  </a:txBody>
                  <a:tcPr marL="62519" marR="62519" marT="41679" marB="416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r>
                        <a:rPr lang="en-US" sz="1400" dirty="0">
                          <a:solidFill>
                            <a:srgbClr val="1F1F1F"/>
                          </a:solidFill>
                          <a:effectLst/>
                          <a:latin typeface="Google Sans Text"/>
                        </a:rPr>
                        <a:t>20</a:t>
                      </a:r>
                    </a:p>
                  </a:txBody>
                  <a:tcPr marL="62519" marR="62519" marT="41679" marB="416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r>
                        <a:rPr lang="en-US" sz="1200" dirty="0">
                          <a:solidFill>
                            <a:srgbClr val="1F1F1F"/>
                          </a:solidFill>
                          <a:effectLst/>
                          <a:latin typeface="Google Sans Text"/>
                        </a:rPr>
                        <a:t>Baseline DRM detection (K103N)</a:t>
                      </a:r>
                    </a:p>
                  </a:txBody>
                  <a:tcPr marL="62519" marR="62519" marT="41679" marB="416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r>
                        <a:rPr lang="en-US" sz="1200" dirty="0">
                          <a:solidFill>
                            <a:srgbClr val="1F1F1F"/>
                          </a:solidFill>
                          <a:effectLst/>
                          <a:latin typeface="Google Sans Text"/>
                        </a:rPr>
                        <a:t>Reports K103N</a:t>
                      </a:r>
                    </a:p>
                  </a:txBody>
                  <a:tcPr marL="62519" marR="62519" marT="41679" marB="416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r>
                        <a:rPr lang="en-US" sz="1200" dirty="0">
                          <a:solidFill>
                            <a:srgbClr val="1F1F1F"/>
                          </a:solidFill>
                          <a:effectLst/>
                          <a:latin typeface="Google Sans Text"/>
                        </a:rPr>
                        <a:t>Reports K103N</a:t>
                      </a:r>
                    </a:p>
                  </a:txBody>
                  <a:tcPr marL="62519" marR="62519" marT="41679" marB="416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47056498"/>
                  </a:ext>
                </a:extLst>
              </a:tr>
              <a:tr h="533497">
                <a:tc vMerge="1">
                  <a:txBody>
                    <a:bodyPr/>
                    <a:lstStyle/>
                    <a:p>
                      <a:pPr rtl="0"/>
                      <a:endParaRPr lang="en-US" sz="1400" dirty="0">
                        <a:solidFill>
                          <a:srgbClr val="1F1F1F"/>
                        </a:solidFill>
                        <a:effectLst/>
                        <a:latin typeface="Google Sans Text"/>
                      </a:endParaRPr>
                    </a:p>
                  </a:txBody>
                  <a:tcPr marL="62519" marR="62519" marT="41679" marB="416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r>
                        <a:rPr lang="en-US" sz="1400" b="1" dirty="0">
                          <a:solidFill>
                            <a:srgbClr val="1F1F1F"/>
                          </a:solidFill>
                          <a:effectLst/>
                          <a:latin typeface="Google Sans Text"/>
                        </a:rPr>
                        <a:t>synth1: Scale_50</a:t>
                      </a:r>
                      <a:endParaRPr lang="en-US" sz="1400" dirty="0">
                        <a:solidFill>
                          <a:srgbClr val="1F1F1F"/>
                        </a:solidFill>
                        <a:effectLst/>
                        <a:latin typeface="Google Sans Text"/>
                      </a:endParaRPr>
                    </a:p>
                  </a:txBody>
                  <a:tcPr marL="62519" marR="62519" marT="41679" marB="416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r>
                        <a:rPr lang="en-US" sz="1400" dirty="0">
                          <a:solidFill>
                            <a:srgbClr val="1F1F1F"/>
                          </a:solidFill>
                          <a:effectLst/>
                          <a:latin typeface="Google Sans Text"/>
                        </a:rPr>
                        <a:t>50</a:t>
                      </a:r>
                    </a:p>
                  </a:txBody>
                  <a:tcPr marL="62519" marR="62519" marT="41679" marB="416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dirty="0"/>
                        <a:t>Test family-size cap(</a:t>
                      </a:r>
                      <a:r>
                        <a:rPr lang="en-US" sz="1200" dirty="0">
                          <a:solidFill>
                            <a:srgbClr val="1F1F1F"/>
                          </a:solidFill>
                          <a:effectLst/>
                          <a:latin typeface="Google Sans Text"/>
                        </a:rPr>
                        <a:t>Y181C)</a:t>
                      </a:r>
                      <a:endParaRPr lang="en-US" sz="1200" dirty="0"/>
                    </a:p>
                  </a:txBody>
                  <a:tcPr marL="62519" marR="62519" marT="41679" marB="416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r>
                        <a:rPr lang="en-US" sz="1200" b="1" dirty="0">
                          <a:solidFill>
                            <a:srgbClr val="1F1F1F"/>
                          </a:solidFill>
                          <a:effectLst/>
                          <a:latin typeface="Google Sans Text"/>
                        </a:rPr>
                        <a:t>Skipped</a:t>
                      </a:r>
                      <a:r>
                        <a:rPr lang="en-US" sz="1200" dirty="0">
                          <a:solidFill>
                            <a:srgbClr val="1F1F1F"/>
                          </a:solidFill>
                          <a:effectLst/>
                          <a:latin typeface="Google Sans Text"/>
                        </a:rPr>
                        <a:t> (Biased against families &gt; 20)</a:t>
                      </a:r>
                    </a:p>
                  </a:txBody>
                  <a:tcPr marL="62519" marR="62519" marT="41679" marB="416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r>
                        <a:rPr lang="en-US" sz="1200" b="1" dirty="0">
                          <a:solidFill>
                            <a:srgbClr val="1F1F1F"/>
                          </a:solidFill>
                          <a:effectLst/>
                          <a:latin typeface="Google Sans Text"/>
                        </a:rPr>
                        <a:t>Included</a:t>
                      </a:r>
                      <a:r>
                        <a:rPr lang="en-US" sz="1200" dirty="0">
                          <a:solidFill>
                            <a:srgbClr val="1F1F1F"/>
                          </a:solidFill>
                          <a:effectLst/>
                          <a:latin typeface="Google Sans Text"/>
                        </a:rPr>
                        <a:t>; Reports high-confidence Y181C</a:t>
                      </a:r>
                    </a:p>
                  </a:txBody>
                  <a:tcPr marL="62519" marR="62519" marT="41679" marB="416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94497865"/>
                  </a:ext>
                </a:extLst>
              </a:tr>
              <a:tr h="533497">
                <a:tc vMerge="1">
                  <a:txBody>
                    <a:bodyPr/>
                    <a:lstStyle/>
                    <a:p>
                      <a:pPr rtl="0"/>
                      <a:endParaRPr lang="en-US" sz="1400" dirty="0">
                        <a:solidFill>
                          <a:srgbClr val="1F1F1F"/>
                        </a:solidFill>
                        <a:effectLst/>
                        <a:latin typeface="Google Sans Text"/>
                      </a:endParaRPr>
                    </a:p>
                  </a:txBody>
                  <a:tcPr marL="62519" marR="62519" marT="41679" marB="416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r>
                        <a:rPr lang="en-US" sz="1400" b="1" dirty="0">
                          <a:solidFill>
                            <a:srgbClr val="1F1F1F"/>
                          </a:solidFill>
                          <a:effectLst/>
                          <a:latin typeface="Google Sans Text"/>
                        </a:rPr>
                        <a:t>synth1: Scale_100</a:t>
                      </a:r>
                      <a:endParaRPr lang="en-US" sz="1400" dirty="0">
                        <a:solidFill>
                          <a:srgbClr val="1F1F1F"/>
                        </a:solidFill>
                        <a:effectLst/>
                        <a:latin typeface="Google Sans Text"/>
                      </a:endParaRPr>
                    </a:p>
                  </a:txBody>
                  <a:tcPr marL="62519" marR="62519" marT="41679" marB="416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r>
                        <a:rPr lang="en-US" sz="1400" dirty="0">
                          <a:solidFill>
                            <a:srgbClr val="1F1F1F"/>
                          </a:solidFill>
                          <a:effectLst/>
                          <a:latin typeface="Google Sans Text"/>
                        </a:rPr>
                        <a:t>100</a:t>
                      </a:r>
                    </a:p>
                  </a:txBody>
                  <a:tcPr marL="62519" marR="62519" marT="41679" marB="416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dirty="0"/>
                        <a:t>Test family-size cap(</a:t>
                      </a:r>
                      <a:r>
                        <a:rPr lang="en-US" sz="1200" dirty="0">
                          <a:solidFill>
                            <a:srgbClr val="1F1F1F"/>
                          </a:solidFill>
                          <a:effectLst/>
                          <a:latin typeface="Google Sans Text"/>
                        </a:rPr>
                        <a:t>V106M)</a:t>
                      </a:r>
                      <a:endParaRPr lang="en-US" sz="1200" dirty="0"/>
                    </a:p>
                  </a:txBody>
                  <a:tcPr marL="62519" marR="62519" marT="41679" marB="416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r>
                        <a:rPr lang="en-US" sz="1200" b="1" dirty="0">
                          <a:solidFill>
                            <a:srgbClr val="1F1F1F"/>
                          </a:solidFill>
                          <a:effectLst/>
                          <a:latin typeface="Google Sans Text"/>
                        </a:rPr>
                        <a:t>Skipped</a:t>
                      </a:r>
                      <a:r>
                        <a:rPr lang="en-US" sz="1200" dirty="0">
                          <a:solidFill>
                            <a:srgbClr val="1F1F1F"/>
                          </a:solidFill>
                          <a:effectLst/>
                          <a:latin typeface="Google Sans Text"/>
                        </a:rPr>
                        <a:t> (Biased against families &gt; 20)</a:t>
                      </a:r>
                    </a:p>
                  </a:txBody>
                  <a:tcPr marL="62519" marR="62519" marT="41679" marB="416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r>
                        <a:rPr lang="en-US" sz="1200" b="1" dirty="0">
                          <a:solidFill>
                            <a:srgbClr val="1F1F1F"/>
                          </a:solidFill>
                          <a:effectLst/>
                          <a:latin typeface="Google Sans Text"/>
                        </a:rPr>
                        <a:t>Included</a:t>
                      </a:r>
                      <a:r>
                        <a:rPr lang="en-US" sz="1200" dirty="0">
                          <a:solidFill>
                            <a:srgbClr val="1F1F1F"/>
                          </a:solidFill>
                          <a:effectLst/>
                          <a:latin typeface="Google Sans Text"/>
                        </a:rPr>
                        <a:t>; Reports high-confidence V106M</a:t>
                      </a:r>
                    </a:p>
                  </a:txBody>
                  <a:tcPr marL="62519" marR="62519" marT="41679" marB="416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106195"/>
                  </a:ext>
                </a:extLst>
              </a:tr>
              <a:tr h="533497">
                <a:tc vMerge="1">
                  <a:txBody>
                    <a:bodyPr/>
                    <a:lstStyle/>
                    <a:p>
                      <a:pPr rtl="0"/>
                      <a:endParaRPr lang="en-US" sz="1400" dirty="0">
                        <a:solidFill>
                          <a:srgbClr val="1F1F1F"/>
                        </a:solidFill>
                        <a:effectLst/>
                        <a:latin typeface="Google Sans Text"/>
                      </a:endParaRPr>
                    </a:p>
                  </a:txBody>
                  <a:tcPr marL="62519" marR="62519" marT="41679" marB="416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solidFill>
                            <a:srgbClr val="1F1F1F"/>
                          </a:solidFill>
                          <a:effectLst/>
                          <a:latin typeface="Google Sans Text"/>
                        </a:rPr>
                        <a:t>synth1: Scale_10</a:t>
                      </a:r>
                      <a:endParaRPr lang="en-US" sz="1400" dirty="0">
                        <a:solidFill>
                          <a:srgbClr val="1F1F1F"/>
                        </a:solidFill>
                        <a:effectLst/>
                        <a:latin typeface="Google Sans Text"/>
                      </a:endParaRPr>
                    </a:p>
                    <a:p>
                      <a:pPr rtl="0"/>
                      <a:endParaRPr lang="en-US" sz="1400" dirty="0">
                        <a:solidFill>
                          <a:srgbClr val="1F1F1F"/>
                        </a:solidFill>
                        <a:effectLst/>
                        <a:latin typeface="Google Sans Text"/>
                      </a:endParaRPr>
                    </a:p>
                  </a:txBody>
                  <a:tcPr marL="62519" marR="62519" marT="41679" marB="416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r>
                        <a:rPr lang="en-US" sz="1400" dirty="0">
                          <a:solidFill>
                            <a:srgbClr val="1F1F1F"/>
                          </a:solidFill>
                          <a:effectLst/>
                          <a:latin typeface="Google Sans Text"/>
                        </a:rPr>
                        <a:t>10</a:t>
                      </a:r>
                    </a:p>
                  </a:txBody>
                  <a:tcPr marL="62519" marR="62519" marT="41679" marB="416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dirty="0"/>
                        <a:t>Test majority allele handling (M184I)</a:t>
                      </a:r>
                    </a:p>
                    <a:p>
                      <a:pPr>
                        <a:buNone/>
                      </a:pPr>
                      <a:r>
                        <a:rPr lang="en-US" sz="1200" dirty="0"/>
                        <a:t>9I+1WT</a:t>
                      </a:r>
                    </a:p>
                  </a:txBody>
                  <a:tcPr marL="62519" marR="62519" marT="41679" marB="416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r>
                        <a:rPr lang="en-US" sz="1200" b="1" dirty="0">
                          <a:solidFill>
                            <a:srgbClr val="1F1F1F"/>
                          </a:solidFill>
                          <a:effectLst/>
                          <a:latin typeface="Google Sans Text"/>
                        </a:rPr>
                        <a:t>Skipped: </a:t>
                      </a:r>
                      <a:r>
                        <a:rPr lang="en-US" sz="1200" b="0" dirty="0">
                          <a:solidFill>
                            <a:srgbClr val="1F1F1F"/>
                          </a:solidFill>
                          <a:effectLst/>
                          <a:latin typeface="Google Sans Text"/>
                        </a:rPr>
                        <a:t>takes WT in consensus</a:t>
                      </a:r>
                    </a:p>
                  </a:txBody>
                  <a:tcPr marL="62519" marR="62519" marT="41679" marB="416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r>
                        <a:rPr lang="en-US" sz="1200" b="1" dirty="0" err="1">
                          <a:solidFill>
                            <a:srgbClr val="1F1F1F"/>
                          </a:solidFill>
                          <a:effectLst/>
                          <a:latin typeface="Google Sans Text"/>
                        </a:rPr>
                        <a:t>Included</a:t>
                      </a:r>
                      <a:r>
                        <a:rPr lang="en-US" sz="1200" dirty="0" err="1">
                          <a:solidFill>
                            <a:srgbClr val="1F1F1F"/>
                          </a:solidFill>
                          <a:effectLst/>
                          <a:latin typeface="Google Sans Text"/>
                        </a:rPr>
                        <a:t>:takes</a:t>
                      </a:r>
                      <a:r>
                        <a:rPr lang="en-US" sz="1200" dirty="0">
                          <a:solidFill>
                            <a:srgbClr val="1F1F1F"/>
                          </a:solidFill>
                          <a:effectLst/>
                          <a:latin typeface="Google Sans Text"/>
                        </a:rPr>
                        <a:t> mutation in consensus being &gt;=80% threshold</a:t>
                      </a:r>
                    </a:p>
                  </a:txBody>
                  <a:tcPr marL="62519" marR="62519" marT="41679" marB="416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5324633"/>
                  </a:ext>
                </a:extLst>
              </a:tr>
              <a:tr h="533497">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solidFill>
                            <a:srgbClr val="1F1F1F"/>
                          </a:solidFill>
                          <a:effectLst/>
                          <a:latin typeface="Google Sans Text"/>
                        </a:rPr>
                        <a:t>synth1: Scale_10</a:t>
                      </a:r>
                      <a:endParaRPr lang="en-US" sz="1400" dirty="0">
                        <a:solidFill>
                          <a:srgbClr val="1F1F1F"/>
                        </a:solidFill>
                        <a:effectLst/>
                        <a:latin typeface="Google Sans Text"/>
                      </a:endParaRPr>
                    </a:p>
                    <a:p>
                      <a:pPr rtl="0"/>
                      <a:endParaRPr lang="en-US" sz="1400" dirty="0">
                        <a:solidFill>
                          <a:srgbClr val="1F1F1F"/>
                        </a:solidFill>
                        <a:effectLst/>
                        <a:latin typeface="Google Sans Text"/>
                      </a:endParaRPr>
                    </a:p>
                  </a:txBody>
                  <a:tcPr marL="62519" marR="62519" marT="41679" marB="416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r>
                        <a:rPr lang="en-US" sz="1400" dirty="0">
                          <a:solidFill>
                            <a:srgbClr val="1F1F1F"/>
                          </a:solidFill>
                          <a:effectLst/>
                          <a:latin typeface="Google Sans Text"/>
                        </a:rPr>
                        <a:t>10</a:t>
                      </a:r>
                    </a:p>
                  </a:txBody>
                  <a:tcPr marL="62519" marR="62519" marT="41679" marB="416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Test majority allele handling(E138A)</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7A+3WT</a:t>
                      </a:r>
                    </a:p>
                    <a:p>
                      <a:pPr>
                        <a:buNone/>
                      </a:pPr>
                      <a:endParaRPr lang="en-US" sz="1200" dirty="0"/>
                    </a:p>
                  </a:txBody>
                  <a:tcPr marL="62519" marR="62519" marT="41679" marB="416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r>
                        <a:rPr lang="en-US" sz="1200" b="1" dirty="0">
                          <a:solidFill>
                            <a:srgbClr val="1F1F1F"/>
                          </a:solidFill>
                          <a:effectLst/>
                          <a:latin typeface="Google Sans Text"/>
                        </a:rPr>
                        <a:t>Skipped: </a:t>
                      </a:r>
                      <a:r>
                        <a:rPr lang="en-US" sz="1200" b="0" dirty="0">
                          <a:solidFill>
                            <a:srgbClr val="1F1F1F"/>
                          </a:solidFill>
                          <a:effectLst/>
                          <a:latin typeface="Google Sans Text"/>
                        </a:rPr>
                        <a:t>takes WT in consensus</a:t>
                      </a:r>
                    </a:p>
                  </a:txBody>
                  <a:tcPr marL="62519" marR="62519" marT="41679" marB="416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r>
                        <a:rPr lang="en-US" sz="1200" b="1" dirty="0">
                          <a:solidFill>
                            <a:srgbClr val="1F1F1F"/>
                          </a:solidFill>
                          <a:effectLst/>
                          <a:latin typeface="Google Sans Text"/>
                        </a:rPr>
                        <a:t>Skipped: </a:t>
                      </a:r>
                      <a:r>
                        <a:rPr lang="en-US" sz="1200" b="0" dirty="0">
                          <a:solidFill>
                            <a:srgbClr val="1F1F1F"/>
                          </a:solidFill>
                          <a:effectLst/>
                          <a:latin typeface="Google Sans Text"/>
                        </a:rPr>
                        <a:t>none satisfy 80% </a:t>
                      </a:r>
                      <a:r>
                        <a:rPr lang="en-US" sz="1200" b="0" dirty="0" err="1">
                          <a:solidFill>
                            <a:srgbClr val="1F1F1F"/>
                          </a:solidFill>
                          <a:effectLst/>
                          <a:latin typeface="Google Sans Text"/>
                        </a:rPr>
                        <a:t>th</a:t>
                      </a:r>
                      <a:r>
                        <a:rPr lang="en-US" sz="1200" b="0" dirty="0">
                          <a:solidFill>
                            <a:srgbClr val="1F1F1F"/>
                          </a:solidFill>
                          <a:effectLst/>
                          <a:latin typeface="Google Sans Text"/>
                        </a:rPr>
                        <a:t> hence take N(ambiguous) in consensus</a:t>
                      </a:r>
                    </a:p>
                  </a:txBody>
                  <a:tcPr marL="62519" marR="62519" marT="41679" marB="416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7153168"/>
                  </a:ext>
                </a:extLst>
              </a:tr>
              <a:tr h="533497">
                <a:tc vMerge="1">
                  <a:txBody>
                    <a:bodyPr/>
                    <a:lstStyle/>
                    <a:p>
                      <a:pPr rtl="0"/>
                      <a:endParaRPr lang="en-US" sz="1400" dirty="0">
                        <a:solidFill>
                          <a:srgbClr val="1F1F1F"/>
                        </a:solidFill>
                        <a:effectLst/>
                        <a:latin typeface="Google Sans Text"/>
                      </a:endParaRPr>
                    </a:p>
                  </a:txBody>
                  <a:tcPr marL="62519" marR="62519" marT="41679" marB="416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solidFill>
                            <a:srgbClr val="1F1F1F"/>
                          </a:solidFill>
                          <a:effectLst/>
                          <a:latin typeface="Google Sans Text"/>
                        </a:rPr>
                        <a:t>synth1: Scale_20</a:t>
                      </a:r>
                      <a:endParaRPr lang="en-US" sz="1400" dirty="0">
                        <a:solidFill>
                          <a:srgbClr val="1F1F1F"/>
                        </a:solidFill>
                        <a:effectLst/>
                        <a:latin typeface="Google Sans Text"/>
                      </a:endParaRPr>
                    </a:p>
                    <a:p>
                      <a:pPr rtl="0"/>
                      <a:endParaRPr lang="en-US" sz="1400" dirty="0">
                        <a:solidFill>
                          <a:srgbClr val="1F1F1F"/>
                        </a:solidFill>
                        <a:effectLst/>
                        <a:latin typeface="Google Sans Text"/>
                      </a:endParaRPr>
                    </a:p>
                  </a:txBody>
                  <a:tcPr marL="62519" marR="62519" marT="41679" marB="416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r>
                        <a:rPr lang="en-US" sz="1400" dirty="0">
                          <a:solidFill>
                            <a:srgbClr val="1F1F1F"/>
                          </a:solidFill>
                          <a:effectLst/>
                          <a:latin typeface="Google Sans Text"/>
                        </a:rPr>
                        <a:t>20</a:t>
                      </a:r>
                    </a:p>
                  </a:txBody>
                  <a:tcPr marL="62519" marR="62519" marT="41679" marB="416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Test majority allele handling and noise (L74V) 2V+18WT</a:t>
                      </a:r>
                    </a:p>
                    <a:p>
                      <a:pPr>
                        <a:buNone/>
                      </a:pPr>
                      <a:endParaRPr lang="en-US" sz="1200" dirty="0"/>
                    </a:p>
                  </a:txBody>
                  <a:tcPr marL="62519" marR="62519" marT="41679" marB="416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r>
                        <a:rPr lang="en-US" sz="1200" b="1" dirty="0" err="1">
                          <a:solidFill>
                            <a:srgbClr val="1F1F1F"/>
                          </a:solidFill>
                          <a:effectLst/>
                          <a:latin typeface="Google Sans Text"/>
                        </a:rPr>
                        <a:t>Included</a:t>
                      </a:r>
                      <a:r>
                        <a:rPr lang="en-US" sz="1200" dirty="0" err="1">
                          <a:solidFill>
                            <a:srgbClr val="1F1F1F"/>
                          </a:solidFill>
                          <a:effectLst/>
                          <a:latin typeface="Google Sans Text"/>
                        </a:rPr>
                        <a:t>:takes</a:t>
                      </a:r>
                      <a:r>
                        <a:rPr lang="en-US" sz="1200" dirty="0">
                          <a:solidFill>
                            <a:srgbClr val="1F1F1F"/>
                          </a:solidFill>
                          <a:effectLst/>
                          <a:latin typeface="Google Sans Text"/>
                        </a:rPr>
                        <a:t> mutation in consensus</a:t>
                      </a:r>
                    </a:p>
                  </a:txBody>
                  <a:tcPr marL="62519" marR="62519" marT="41679" marB="416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r>
                        <a:rPr lang="en-US" sz="1200" b="1" dirty="0">
                          <a:solidFill>
                            <a:srgbClr val="1F1F1F"/>
                          </a:solidFill>
                          <a:effectLst/>
                          <a:latin typeface="Google Sans Text"/>
                        </a:rPr>
                        <a:t>Skipped: </a:t>
                      </a:r>
                      <a:r>
                        <a:rPr lang="en-US" sz="1200" b="0" dirty="0">
                          <a:solidFill>
                            <a:srgbClr val="1F1F1F"/>
                          </a:solidFill>
                          <a:effectLst/>
                          <a:latin typeface="Google Sans Text"/>
                        </a:rPr>
                        <a:t>considers WT in consensus and no DRM</a:t>
                      </a:r>
                    </a:p>
                  </a:txBody>
                  <a:tcPr marL="62519" marR="62519" marT="41679" marB="416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66601529"/>
                  </a:ext>
                </a:extLst>
              </a:tr>
              <a:tr h="383451">
                <a:tc rowSpan="4">
                  <a:txBody>
                    <a:bodyPr/>
                    <a:lstStyle/>
                    <a:p>
                      <a:pPr rtl="0"/>
                      <a:r>
                        <a:rPr lang="en-US" sz="1400" dirty="0">
                          <a:solidFill>
                            <a:srgbClr val="1F1F1F"/>
                          </a:solidFill>
                          <a:effectLst/>
                          <a:latin typeface="Google Sans Text"/>
                        </a:rPr>
                        <a:t>synth2</a:t>
                      </a:r>
                    </a:p>
                  </a:txBody>
                  <a:tcPr marL="62519" marR="62519" marT="41679" marB="416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r>
                        <a:rPr lang="en-US" sz="1400" b="1" dirty="0">
                          <a:solidFill>
                            <a:srgbClr val="1F1F1F"/>
                          </a:solidFill>
                          <a:effectLst/>
                          <a:latin typeface="Google Sans Text"/>
                        </a:rPr>
                        <a:t>synth2: M184V_Size10</a:t>
                      </a:r>
                      <a:endParaRPr lang="en-US" sz="1400" dirty="0">
                        <a:solidFill>
                          <a:srgbClr val="1F1F1F"/>
                        </a:solidFill>
                        <a:effectLst/>
                        <a:latin typeface="Google Sans Text"/>
                      </a:endParaRPr>
                    </a:p>
                  </a:txBody>
                  <a:tcPr marL="62519" marR="62519" marT="41679" marB="416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r>
                        <a:rPr lang="en-US" sz="1400" b="1" dirty="0">
                          <a:solidFill>
                            <a:srgbClr val="1F1F1F"/>
                          </a:solidFill>
                          <a:effectLst/>
                          <a:latin typeface="Google Sans Text"/>
                        </a:rPr>
                        <a:t>10</a:t>
                      </a:r>
                      <a:endParaRPr lang="en-US" sz="1400" dirty="0">
                        <a:solidFill>
                          <a:srgbClr val="1F1F1F"/>
                        </a:solidFill>
                        <a:effectLst/>
                        <a:latin typeface="Google Sans Text"/>
                      </a:endParaRPr>
                    </a:p>
                  </a:txBody>
                  <a:tcPr marL="62519" marR="62519" marT="41679" marB="416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r>
                        <a:rPr lang="en-US" sz="1200" dirty="0">
                          <a:solidFill>
                            <a:srgbClr val="1F1F1F"/>
                          </a:solidFill>
                          <a:effectLst/>
                          <a:latin typeface="Google Sans Text"/>
                        </a:rPr>
                        <a:t>Low-family size DRM detection</a:t>
                      </a:r>
                    </a:p>
                  </a:txBody>
                  <a:tcPr marL="62519" marR="62519" marT="41679" marB="416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r>
                        <a:rPr lang="en-US" sz="1200" dirty="0">
                          <a:solidFill>
                            <a:srgbClr val="1F1F1F"/>
                          </a:solidFill>
                          <a:effectLst/>
                          <a:latin typeface="Google Sans Text"/>
                        </a:rPr>
                        <a:t>Reports M184V</a:t>
                      </a:r>
                    </a:p>
                  </a:txBody>
                  <a:tcPr marL="62519" marR="62519" marT="41679" marB="416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r>
                        <a:rPr lang="en-US" sz="1200" dirty="0">
                          <a:solidFill>
                            <a:srgbClr val="1F1F1F"/>
                          </a:solidFill>
                          <a:effectLst/>
                          <a:latin typeface="Google Sans Text"/>
                        </a:rPr>
                        <a:t>Reports M184V</a:t>
                      </a:r>
                    </a:p>
                  </a:txBody>
                  <a:tcPr marL="62519" marR="62519" marT="41679" marB="416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32690176"/>
                  </a:ext>
                </a:extLst>
              </a:tr>
              <a:tr h="533497">
                <a:tc vMerge="1">
                  <a:txBody>
                    <a:bodyPr/>
                    <a:lstStyle/>
                    <a:p>
                      <a:pPr rtl="0"/>
                      <a:endParaRPr lang="en-US" sz="1400" dirty="0">
                        <a:solidFill>
                          <a:srgbClr val="1F1F1F"/>
                        </a:solidFill>
                        <a:effectLst/>
                        <a:latin typeface="Google Sans Text"/>
                      </a:endParaRPr>
                    </a:p>
                  </a:txBody>
                  <a:tcPr marL="62519" marR="62519" marT="41679" marB="416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r>
                        <a:rPr lang="en-US" sz="1400" b="1" dirty="0">
                          <a:solidFill>
                            <a:srgbClr val="1F1F1F"/>
                          </a:solidFill>
                          <a:effectLst/>
                          <a:latin typeface="Google Sans Text"/>
                        </a:rPr>
                        <a:t>synth2: Triple_Size20</a:t>
                      </a:r>
                      <a:endParaRPr lang="en-US" sz="1400" dirty="0">
                        <a:solidFill>
                          <a:srgbClr val="1F1F1F"/>
                        </a:solidFill>
                        <a:effectLst/>
                        <a:latin typeface="Google Sans Text"/>
                      </a:endParaRPr>
                    </a:p>
                  </a:txBody>
                  <a:tcPr marL="62519" marR="62519" marT="41679" marB="416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r>
                        <a:rPr lang="en-US" sz="1400" b="1">
                          <a:solidFill>
                            <a:srgbClr val="1F1F1F"/>
                          </a:solidFill>
                          <a:effectLst/>
                          <a:latin typeface="Google Sans Text"/>
                        </a:rPr>
                        <a:t>20</a:t>
                      </a:r>
                      <a:endParaRPr lang="en-US" sz="1400">
                        <a:solidFill>
                          <a:srgbClr val="1F1F1F"/>
                        </a:solidFill>
                        <a:effectLst/>
                        <a:latin typeface="Google Sans Text"/>
                      </a:endParaRPr>
                    </a:p>
                  </a:txBody>
                  <a:tcPr marL="62519" marR="62519" marT="41679" marB="416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1F1F1F"/>
                          </a:solidFill>
                          <a:effectLst/>
                          <a:latin typeface="Google Sans Text"/>
                        </a:rPr>
                        <a:t>Medium-family size DRM detection</a:t>
                      </a:r>
                    </a:p>
                    <a:p>
                      <a:pPr rtl="0"/>
                      <a:r>
                        <a:rPr lang="en-US" sz="1200" dirty="0">
                          <a:solidFill>
                            <a:srgbClr val="1F1F1F"/>
                          </a:solidFill>
                          <a:effectLst/>
                          <a:latin typeface="Google Sans Text"/>
                        </a:rPr>
                        <a:t>(K103N, V108I, M184V)</a:t>
                      </a:r>
                    </a:p>
                  </a:txBody>
                  <a:tcPr marL="62519" marR="62519" marT="41679" marB="416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r>
                        <a:rPr lang="en-US" sz="1200" dirty="0">
                          <a:solidFill>
                            <a:srgbClr val="1F1F1F"/>
                          </a:solidFill>
                          <a:effectLst/>
                          <a:latin typeface="Google Sans Text"/>
                        </a:rPr>
                        <a:t>Risk of "forcing 2nd allele" on any mismatch</a:t>
                      </a:r>
                    </a:p>
                  </a:txBody>
                  <a:tcPr marL="62519" marR="62519" marT="41679" marB="416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r>
                        <a:rPr lang="en-US" sz="1200" dirty="0">
                          <a:solidFill>
                            <a:srgbClr val="1F1F1F"/>
                          </a:solidFill>
                          <a:effectLst/>
                          <a:latin typeface="Google Sans Text"/>
                        </a:rPr>
                        <a:t>Accurately links all 3 DRMs on one sequence</a:t>
                      </a:r>
                    </a:p>
                  </a:txBody>
                  <a:tcPr marL="62519" marR="62519" marT="41679" marB="416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19997813"/>
                  </a:ext>
                </a:extLst>
              </a:tr>
              <a:tr h="533497">
                <a:tc vMerge="1">
                  <a:txBody>
                    <a:bodyPr/>
                    <a:lstStyle/>
                    <a:p>
                      <a:pPr rtl="0"/>
                      <a:endParaRPr lang="en-US" sz="1400" dirty="0">
                        <a:solidFill>
                          <a:srgbClr val="1F1F1F"/>
                        </a:solidFill>
                        <a:effectLst/>
                        <a:latin typeface="Google Sans Text"/>
                      </a:endParaRPr>
                    </a:p>
                  </a:txBody>
                  <a:tcPr marL="62519" marR="62519" marT="41679" marB="416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r>
                        <a:rPr lang="en-US" sz="1400" b="1" dirty="0">
                          <a:solidFill>
                            <a:srgbClr val="1F1F1F"/>
                          </a:solidFill>
                          <a:effectLst/>
                          <a:latin typeface="Google Sans Text"/>
                        </a:rPr>
                        <a:t>synth2: Double_Size50</a:t>
                      </a:r>
                      <a:endParaRPr lang="en-US" sz="1400" dirty="0">
                        <a:solidFill>
                          <a:srgbClr val="1F1F1F"/>
                        </a:solidFill>
                        <a:effectLst/>
                        <a:latin typeface="Google Sans Text"/>
                      </a:endParaRPr>
                    </a:p>
                  </a:txBody>
                  <a:tcPr marL="62519" marR="62519" marT="41679" marB="416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r>
                        <a:rPr lang="en-US" sz="1400" b="1">
                          <a:solidFill>
                            <a:srgbClr val="1F1F1F"/>
                          </a:solidFill>
                          <a:effectLst/>
                          <a:latin typeface="Google Sans Text"/>
                        </a:rPr>
                        <a:t>50</a:t>
                      </a:r>
                      <a:endParaRPr lang="en-US" sz="1400">
                        <a:solidFill>
                          <a:srgbClr val="1F1F1F"/>
                        </a:solidFill>
                        <a:effectLst/>
                        <a:latin typeface="Google Sans Text"/>
                      </a:endParaRPr>
                    </a:p>
                  </a:txBody>
                  <a:tcPr marL="62519" marR="62519" marT="41679" marB="416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1F1F1F"/>
                          </a:solidFill>
                          <a:effectLst/>
                          <a:latin typeface="Google Sans Text"/>
                        </a:rPr>
                        <a:t>Medium-family size DRM detection</a:t>
                      </a:r>
                    </a:p>
                    <a:p>
                      <a:pPr rtl="0"/>
                      <a:r>
                        <a:rPr lang="en-US" sz="1200" dirty="0">
                          <a:solidFill>
                            <a:srgbClr val="1F1F1F"/>
                          </a:solidFill>
                          <a:effectLst/>
                          <a:latin typeface="Google Sans Text"/>
                        </a:rPr>
                        <a:t>(K103N, M184V)</a:t>
                      </a:r>
                    </a:p>
                  </a:txBody>
                  <a:tcPr marL="62519" marR="62519" marT="41679" marB="416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r>
                        <a:rPr lang="en-US" sz="1200" b="1" dirty="0">
                          <a:solidFill>
                            <a:srgbClr val="1F1F1F"/>
                          </a:solidFill>
                          <a:effectLst/>
                          <a:latin typeface="Google Sans Text"/>
                        </a:rPr>
                        <a:t>Skipped</a:t>
                      </a:r>
                      <a:r>
                        <a:rPr lang="en-US" sz="1200" dirty="0">
                          <a:solidFill>
                            <a:srgbClr val="1F1F1F"/>
                          </a:solidFill>
                          <a:effectLst/>
                          <a:latin typeface="Google Sans Text"/>
                        </a:rPr>
                        <a:t> (Family &gt; 20 cap)</a:t>
                      </a:r>
                    </a:p>
                  </a:txBody>
                  <a:tcPr marL="62519" marR="62519" marT="41679" marB="416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r>
                        <a:rPr lang="en-US" sz="1200" b="1" dirty="0">
                          <a:solidFill>
                            <a:srgbClr val="1F1F1F"/>
                          </a:solidFill>
                          <a:effectLst/>
                          <a:latin typeface="Google Sans Text"/>
                        </a:rPr>
                        <a:t>Included</a:t>
                      </a:r>
                      <a:r>
                        <a:rPr lang="en-US" sz="1200" dirty="0">
                          <a:solidFill>
                            <a:srgbClr val="1F1F1F"/>
                          </a:solidFill>
                          <a:effectLst/>
                          <a:latin typeface="Google Sans Text"/>
                        </a:rPr>
                        <a:t>; Reports both linked DRMs</a:t>
                      </a:r>
                    </a:p>
                  </a:txBody>
                  <a:tcPr marL="62519" marR="62519" marT="41679" marB="416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75549900"/>
                  </a:ext>
                </a:extLst>
              </a:tr>
              <a:tr h="533497">
                <a:tc vMerge="1">
                  <a:txBody>
                    <a:bodyPr/>
                    <a:lstStyle/>
                    <a:p>
                      <a:pPr rtl="0"/>
                      <a:endParaRPr lang="en-US" sz="1400" dirty="0">
                        <a:solidFill>
                          <a:srgbClr val="1F1F1F"/>
                        </a:solidFill>
                        <a:effectLst/>
                        <a:latin typeface="Google Sans Text"/>
                      </a:endParaRPr>
                    </a:p>
                  </a:txBody>
                  <a:tcPr marL="62519" marR="62519" marT="41679" marB="416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r>
                        <a:rPr lang="en-US" sz="1400" b="1" dirty="0">
                          <a:solidFill>
                            <a:srgbClr val="1F1F1F"/>
                          </a:solidFill>
                          <a:effectLst/>
                          <a:latin typeface="Google Sans Text"/>
                        </a:rPr>
                        <a:t>synth2: K103N_Size100</a:t>
                      </a:r>
                      <a:endParaRPr lang="en-US" sz="1400" dirty="0">
                        <a:solidFill>
                          <a:srgbClr val="1F1F1F"/>
                        </a:solidFill>
                        <a:effectLst/>
                        <a:latin typeface="Google Sans Text"/>
                      </a:endParaRPr>
                    </a:p>
                  </a:txBody>
                  <a:tcPr marL="62519" marR="62519" marT="41679" marB="416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r>
                        <a:rPr lang="en-US" sz="1400" b="1">
                          <a:solidFill>
                            <a:srgbClr val="1F1F1F"/>
                          </a:solidFill>
                          <a:effectLst/>
                          <a:latin typeface="Google Sans Text"/>
                        </a:rPr>
                        <a:t>100</a:t>
                      </a:r>
                      <a:endParaRPr lang="en-US" sz="1400">
                        <a:solidFill>
                          <a:srgbClr val="1F1F1F"/>
                        </a:solidFill>
                        <a:effectLst/>
                        <a:latin typeface="Google Sans Text"/>
                      </a:endParaRPr>
                    </a:p>
                  </a:txBody>
                  <a:tcPr marL="62519" marR="62519" marT="41679" marB="416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r>
                        <a:rPr lang="en-US" sz="1200" dirty="0">
                          <a:solidFill>
                            <a:srgbClr val="1F1F1F"/>
                          </a:solidFill>
                          <a:effectLst/>
                          <a:latin typeface="Google Sans Text"/>
                        </a:rPr>
                        <a:t>High-family size</a:t>
                      </a:r>
                    </a:p>
                    <a:p>
                      <a:pPr rtl="0"/>
                      <a:r>
                        <a:rPr lang="en-US" sz="1200" dirty="0">
                          <a:solidFill>
                            <a:srgbClr val="1F1F1F"/>
                          </a:solidFill>
                          <a:effectLst/>
                          <a:latin typeface="Google Sans Text"/>
                        </a:rPr>
                        <a:t>DRM detection</a:t>
                      </a:r>
                    </a:p>
                  </a:txBody>
                  <a:tcPr marL="62519" marR="62519" marT="41679" marB="416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r>
                        <a:rPr lang="en-US" sz="1200" b="1">
                          <a:solidFill>
                            <a:srgbClr val="1F1F1F"/>
                          </a:solidFill>
                          <a:effectLst/>
                          <a:latin typeface="Google Sans Text"/>
                        </a:rPr>
                        <a:t>Skipped</a:t>
                      </a:r>
                      <a:r>
                        <a:rPr lang="en-US" sz="1200">
                          <a:solidFill>
                            <a:srgbClr val="1F1F1F"/>
                          </a:solidFill>
                          <a:effectLst/>
                          <a:latin typeface="Google Sans Text"/>
                        </a:rPr>
                        <a:t> (Family &gt; 20 cap)</a:t>
                      </a:r>
                    </a:p>
                  </a:txBody>
                  <a:tcPr marL="62519" marR="62519" marT="41679" marB="416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r>
                        <a:rPr lang="en-US" sz="1200" b="1" dirty="0">
                          <a:solidFill>
                            <a:srgbClr val="1F1F1F"/>
                          </a:solidFill>
                          <a:effectLst/>
                          <a:latin typeface="Google Sans Text"/>
                        </a:rPr>
                        <a:t>Included</a:t>
                      </a:r>
                      <a:r>
                        <a:rPr lang="en-US" sz="1200" dirty="0">
                          <a:solidFill>
                            <a:srgbClr val="1F1F1F"/>
                          </a:solidFill>
                          <a:effectLst/>
                          <a:latin typeface="Google Sans Text"/>
                        </a:rPr>
                        <a:t>; Reports high-confidence K103N</a:t>
                      </a:r>
                    </a:p>
                  </a:txBody>
                  <a:tcPr marL="62519" marR="62519" marT="41679" marB="416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33304749"/>
                  </a:ext>
                </a:extLst>
              </a:tr>
            </a:tbl>
          </a:graphicData>
        </a:graphic>
      </p:graphicFrame>
      <p:sp>
        <p:nvSpPr>
          <p:cNvPr id="3" name="Title 1">
            <a:extLst>
              <a:ext uri="{FF2B5EF4-FFF2-40B4-BE49-F238E27FC236}">
                <a16:creationId xmlns:a16="http://schemas.microsoft.com/office/drawing/2014/main" id="{7C4CF41E-22A5-A387-61FC-B65D359BF3B5}"/>
              </a:ext>
            </a:extLst>
          </p:cNvPr>
          <p:cNvSpPr txBox="1">
            <a:spLocks/>
          </p:cNvSpPr>
          <p:nvPr/>
        </p:nvSpPr>
        <p:spPr>
          <a:xfrm>
            <a:off x="224425" y="19214"/>
            <a:ext cx="10515600" cy="535828"/>
          </a:xfrm>
          <a:prstGeom prst="rect">
            <a:avLst/>
          </a:prstGeom>
        </p:spPr>
        <p:txBody>
          <a:bodyP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a:t>Type of synthetic sequences generated to test different scenarios</a:t>
            </a:r>
          </a:p>
        </p:txBody>
      </p:sp>
    </p:spTree>
    <p:extLst>
      <p:ext uri="{BB962C8B-B14F-4D97-AF65-F5344CB8AC3E}">
        <p14:creationId xmlns:p14="http://schemas.microsoft.com/office/powerpoint/2010/main" val="16414038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DACDEF8-1FBB-BA45-E13E-AE3A61A74BF2}"/>
              </a:ext>
            </a:extLst>
          </p:cNvPr>
          <p:cNvSpPr txBox="1"/>
          <p:nvPr/>
        </p:nvSpPr>
        <p:spPr>
          <a:xfrm>
            <a:off x="620039" y="3244334"/>
            <a:ext cx="7565721" cy="369332"/>
          </a:xfrm>
          <a:prstGeom prst="rect">
            <a:avLst/>
          </a:prstGeom>
          <a:noFill/>
        </p:spPr>
        <p:txBody>
          <a:bodyPr wrap="square" rtlCol="0">
            <a:spAutoFit/>
          </a:bodyPr>
          <a:lstStyle/>
          <a:p>
            <a:r>
              <a:rPr lang="en-US" dirty="0"/>
              <a:t>Modified script</a:t>
            </a:r>
          </a:p>
        </p:txBody>
      </p:sp>
      <p:sp>
        <p:nvSpPr>
          <p:cNvPr id="5" name="TextBox 4">
            <a:extLst>
              <a:ext uri="{FF2B5EF4-FFF2-40B4-BE49-F238E27FC236}">
                <a16:creationId xmlns:a16="http://schemas.microsoft.com/office/drawing/2014/main" id="{89347656-94E8-DFAA-8D7D-03259C9DBD0B}"/>
              </a:ext>
            </a:extLst>
          </p:cNvPr>
          <p:cNvSpPr txBox="1"/>
          <p:nvPr/>
        </p:nvSpPr>
        <p:spPr>
          <a:xfrm>
            <a:off x="620039" y="241219"/>
            <a:ext cx="9137736" cy="523220"/>
          </a:xfrm>
          <a:prstGeom prst="rect">
            <a:avLst/>
          </a:prstGeom>
          <a:noFill/>
        </p:spPr>
        <p:txBody>
          <a:bodyPr wrap="square">
            <a:spAutoFit/>
          </a:bodyPr>
          <a:lstStyle/>
          <a:p>
            <a:r>
              <a:rPr lang="en-US" sz="2800" b="1" dirty="0">
                <a:solidFill>
                  <a:schemeClr val="tx2">
                    <a:lumMod val="90000"/>
                    <a:lumOff val="10000"/>
                  </a:schemeClr>
                </a:solidFill>
              </a:rPr>
              <a:t>Result from pipeline for sample synth1 </a:t>
            </a:r>
          </a:p>
        </p:txBody>
      </p:sp>
      <p:sp>
        <p:nvSpPr>
          <p:cNvPr id="11" name="TextBox 10">
            <a:extLst>
              <a:ext uri="{FF2B5EF4-FFF2-40B4-BE49-F238E27FC236}">
                <a16:creationId xmlns:a16="http://schemas.microsoft.com/office/drawing/2014/main" id="{C03AD516-9A8D-7986-548C-BC2BB1400A98}"/>
              </a:ext>
            </a:extLst>
          </p:cNvPr>
          <p:cNvSpPr txBox="1"/>
          <p:nvPr/>
        </p:nvSpPr>
        <p:spPr>
          <a:xfrm>
            <a:off x="664140" y="1022799"/>
            <a:ext cx="7565721" cy="369332"/>
          </a:xfrm>
          <a:prstGeom prst="rect">
            <a:avLst/>
          </a:prstGeom>
          <a:noFill/>
        </p:spPr>
        <p:txBody>
          <a:bodyPr wrap="square" rtlCol="0">
            <a:spAutoFit/>
          </a:bodyPr>
          <a:lstStyle/>
          <a:p>
            <a:r>
              <a:rPr lang="en-US" dirty="0"/>
              <a:t>Previous script</a:t>
            </a:r>
          </a:p>
        </p:txBody>
      </p:sp>
      <p:pic>
        <p:nvPicPr>
          <p:cNvPr id="4" name="Picture 3">
            <a:extLst>
              <a:ext uri="{FF2B5EF4-FFF2-40B4-BE49-F238E27FC236}">
                <a16:creationId xmlns:a16="http://schemas.microsoft.com/office/drawing/2014/main" id="{590D0718-B90D-1D49-04A6-F149CA00E516}"/>
              </a:ext>
            </a:extLst>
          </p:cNvPr>
          <p:cNvPicPr>
            <a:picLocks noChangeAspect="1"/>
          </p:cNvPicPr>
          <p:nvPr/>
        </p:nvPicPr>
        <p:blipFill>
          <a:blip r:embed="rId2"/>
          <a:stretch>
            <a:fillRect/>
          </a:stretch>
        </p:blipFill>
        <p:spPr>
          <a:xfrm>
            <a:off x="798685" y="1353032"/>
            <a:ext cx="9392983" cy="1416402"/>
          </a:xfrm>
          <a:prstGeom prst="rect">
            <a:avLst/>
          </a:prstGeom>
        </p:spPr>
      </p:pic>
      <p:pic>
        <p:nvPicPr>
          <p:cNvPr id="7" name="Picture 6">
            <a:extLst>
              <a:ext uri="{FF2B5EF4-FFF2-40B4-BE49-F238E27FC236}">
                <a16:creationId xmlns:a16="http://schemas.microsoft.com/office/drawing/2014/main" id="{331E1386-4DF7-84A5-FE39-9E3482FF3D6C}"/>
              </a:ext>
            </a:extLst>
          </p:cNvPr>
          <p:cNvPicPr>
            <a:picLocks noChangeAspect="1"/>
          </p:cNvPicPr>
          <p:nvPr/>
        </p:nvPicPr>
        <p:blipFill>
          <a:blip r:embed="rId3"/>
          <a:stretch>
            <a:fillRect/>
          </a:stretch>
        </p:blipFill>
        <p:spPr>
          <a:xfrm>
            <a:off x="664140" y="3872026"/>
            <a:ext cx="9527528" cy="1680396"/>
          </a:xfrm>
          <a:prstGeom prst="rect">
            <a:avLst/>
          </a:prstGeom>
        </p:spPr>
      </p:pic>
    </p:spTree>
    <p:extLst>
      <p:ext uri="{BB962C8B-B14F-4D97-AF65-F5344CB8AC3E}">
        <p14:creationId xmlns:p14="http://schemas.microsoft.com/office/powerpoint/2010/main" val="42422300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DACDEF8-1FBB-BA45-E13E-AE3A61A74BF2}"/>
              </a:ext>
            </a:extLst>
          </p:cNvPr>
          <p:cNvSpPr txBox="1"/>
          <p:nvPr/>
        </p:nvSpPr>
        <p:spPr>
          <a:xfrm>
            <a:off x="620039" y="3244334"/>
            <a:ext cx="7565721" cy="369332"/>
          </a:xfrm>
          <a:prstGeom prst="rect">
            <a:avLst/>
          </a:prstGeom>
          <a:noFill/>
        </p:spPr>
        <p:txBody>
          <a:bodyPr wrap="square" rtlCol="0">
            <a:spAutoFit/>
          </a:bodyPr>
          <a:lstStyle/>
          <a:p>
            <a:r>
              <a:rPr lang="en-US" dirty="0"/>
              <a:t>Modified script</a:t>
            </a:r>
          </a:p>
        </p:txBody>
      </p:sp>
      <p:sp>
        <p:nvSpPr>
          <p:cNvPr id="5" name="TextBox 4">
            <a:extLst>
              <a:ext uri="{FF2B5EF4-FFF2-40B4-BE49-F238E27FC236}">
                <a16:creationId xmlns:a16="http://schemas.microsoft.com/office/drawing/2014/main" id="{89347656-94E8-DFAA-8D7D-03259C9DBD0B}"/>
              </a:ext>
            </a:extLst>
          </p:cNvPr>
          <p:cNvSpPr txBox="1"/>
          <p:nvPr/>
        </p:nvSpPr>
        <p:spPr>
          <a:xfrm>
            <a:off x="620039" y="241219"/>
            <a:ext cx="9137736" cy="523220"/>
          </a:xfrm>
          <a:prstGeom prst="rect">
            <a:avLst/>
          </a:prstGeom>
          <a:noFill/>
        </p:spPr>
        <p:txBody>
          <a:bodyPr wrap="square">
            <a:spAutoFit/>
          </a:bodyPr>
          <a:lstStyle/>
          <a:p>
            <a:r>
              <a:rPr lang="en-US" sz="2800" b="1" dirty="0">
                <a:solidFill>
                  <a:schemeClr val="tx2">
                    <a:lumMod val="90000"/>
                    <a:lumOff val="10000"/>
                  </a:schemeClr>
                </a:solidFill>
              </a:rPr>
              <a:t>Result from pipeline for sample synth2 </a:t>
            </a:r>
          </a:p>
        </p:txBody>
      </p:sp>
      <p:sp>
        <p:nvSpPr>
          <p:cNvPr id="11" name="TextBox 10">
            <a:extLst>
              <a:ext uri="{FF2B5EF4-FFF2-40B4-BE49-F238E27FC236}">
                <a16:creationId xmlns:a16="http://schemas.microsoft.com/office/drawing/2014/main" id="{C03AD516-9A8D-7986-548C-BC2BB1400A98}"/>
              </a:ext>
            </a:extLst>
          </p:cNvPr>
          <p:cNvSpPr txBox="1"/>
          <p:nvPr/>
        </p:nvSpPr>
        <p:spPr>
          <a:xfrm>
            <a:off x="664140" y="1022799"/>
            <a:ext cx="7565721" cy="369332"/>
          </a:xfrm>
          <a:prstGeom prst="rect">
            <a:avLst/>
          </a:prstGeom>
          <a:noFill/>
        </p:spPr>
        <p:txBody>
          <a:bodyPr wrap="square" rtlCol="0">
            <a:spAutoFit/>
          </a:bodyPr>
          <a:lstStyle/>
          <a:p>
            <a:r>
              <a:rPr lang="en-US" dirty="0"/>
              <a:t>Previous script</a:t>
            </a:r>
          </a:p>
        </p:txBody>
      </p:sp>
      <p:pic>
        <p:nvPicPr>
          <p:cNvPr id="6" name="Picture 5">
            <a:extLst>
              <a:ext uri="{FF2B5EF4-FFF2-40B4-BE49-F238E27FC236}">
                <a16:creationId xmlns:a16="http://schemas.microsoft.com/office/drawing/2014/main" id="{5654C967-CBB2-9AC2-F718-A7B1D7B92655}"/>
              </a:ext>
            </a:extLst>
          </p:cNvPr>
          <p:cNvPicPr>
            <a:picLocks noChangeAspect="1"/>
          </p:cNvPicPr>
          <p:nvPr/>
        </p:nvPicPr>
        <p:blipFill>
          <a:blip r:embed="rId2"/>
          <a:stretch>
            <a:fillRect/>
          </a:stretch>
        </p:blipFill>
        <p:spPr>
          <a:xfrm>
            <a:off x="664140" y="3792018"/>
            <a:ext cx="9569624" cy="1627730"/>
          </a:xfrm>
          <a:prstGeom prst="rect">
            <a:avLst/>
          </a:prstGeom>
        </p:spPr>
      </p:pic>
      <p:pic>
        <p:nvPicPr>
          <p:cNvPr id="8" name="Picture 7">
            <a:extLst>
              <a:ext uri="{FF2B5EF4-FFF2-40B4-BE49-F238E27FC236}">
                <a16:creationId xmlns:a16="http://schemas.microsoft.com/office/drawing/2014/main" id="{B461A56B-5C09-15D1-02AC-B8BE7275698B}"/>
              </a:ext>
            </a:extLst>
          </p:cNvPr>
          <p:cNvPicPr>
            <a:picLocks noChangeAspect="1"/>
          </p:cNvPicPr>
          <p:nvPr/>
        </p:nvPicPr>
        <p:blipFill>
          <a:blip r:embed="rId3"/>
          <a:stretch>
            <a:fillRect/>
          </a:stretch>
        </p:blipFill>
        <p:spPr>
          <a:xfrm>
            <a:off x="700849" y="1392131"/>
            <a:ext cx="9435846" cy="1100548"/>
          </a:xfrm>
          <a:prstGeom prst="rect">
            <a:avLst/>
          </a:prstGeom>
        </p:spPr>
      </p:pic>
    </p:spTree>
    <p:extLst>
      <p:ext uri="{BB962C8B-B14F-4D97-AF65-F5344CB8AC3E}">
        <p14:creationId xmlns:p14="http://schemas.microsoft.com/office/powerpoint/2010/main" val="19637583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180</TotalTime>
  <Words>492</Words>
  <Application>Microsoft Macintosh PowerPoint</Application>
  <PresentationFormat>Widescreen</PresentationFormat>
  <Paragraphs>91</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-apple-system</vt:lpstr>
      <vt:lpstr>Aptos</vt:lpstr>
      <vt:lpstr>Aptos Display</vt:lpstr>
      <vt:lpstr>Arial</vt:lpstr>
      <vt:lpstr>Google Sans Text</vt:lpstr>
      <vt:lpstr>Office Theme</vt:lpstr>
      <vt:lpstr>hivdrm modified script Validation Report using Synthetic Dataset</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Deo, Rinki</dc:creator>
  <cp:lastModifiedBy>Deo, Rinki</cp:lastModifiedBy>
  <cp:revision>6</cp:revision>
  <dcterms:created xsi:type="dcterms:W3CDTF">2026-01-09T16:14:40Z</dcterms:created>
  <dcterms:modified xsi:type="dcterms:W3CDTF">2026-01-22T18:22:17Z</dcterms:modified>
</cp:coreProperties>
</file>